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81" r:id="rId21"/>
    <p:sldId id="277" r:id="rId22"/>
    <p:sldId id="278" r:id="rId23"/>
    <p:sldId id="283" r:id="rId24"/>
    <p:sldId id="279" r:id="rId2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a:defRPr>
    </a:lvl1pPr>
    <a:lvl2pPr marL="0" marR="0" indent="4572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4C3C2611-4C71-4FC5-86AE-919BDF0F9419}" styleName="">
    <a:wholeTbl>
      <a:tcTxStyle>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notesMaster" Target="notesMasters/notesMaster1.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p:txBody>
      </p:sp>
      <p:sp>
        <p:nvSpPr>
          <p:cNvPr id="169" name="Shape 169"/>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mn-lt"/>
        <a:ea typeface="+mn-ea"/>
        <a:cs typeface="+mn-cs"/>
        <a:sym typeface="Helvetica Neue"/>
      </a:defRPr>
    </a:lvl1pPr>
    <a:lvl2pPr indent="228600" defTabSz="457200" latinLnBrk="0">
      <a:lnSpc>
        <a:spcPct val="118000"/>
      </a:lnSpc>
      <a:defRPr sz="2200">
        <a:latin typeface="+mn-lt"/>
        <a:ea typeface="+mn-ea"/>
        <a:cs typeface="+mn-cs"/>
        <a:sym typeface="Helvetica Neue"/>
      </a:defRPr>
    </a:lvl2pPr>
    <a:lvl3pPr indent="457200" defTabSz="457200" latinLnBrk="0">
      <a:lnSpc>
        <a:spcPct val="118000"/>
      </a:lnSpc>
      <a:defRPr sz="2200">
        <a:latin typeface="+mn-lt"/>
        <a:ea typeface="+mn-ea"/>
        <a:cs typeface="+mn-cs"/>
        <a:sym typeface="Helvetica Neue"/>
      </a:defRPr>
    </a:lvl3pPr>
    <a:lvl4pPr indent="685800" defTabSz="457200" latinLnBrk="0">
      <a:lnSpc>
        <a:spcPct val="118000"/>
      </a:lnSpc>
      <a:defRPr sz="2200">
        <a:latin typeface="+mn-lt"/>
        <a:ea typeface="+mn-ea"/>
        <a:cs typeface="+mn-cs"/>
        <a:sym typeface="Helvetica Neue"/>
      </a:defRPr>
    </a:lvl4pPr>
    <a:lvl5pPr indent="914400" defTabSz="457200" latinLnBrk="0">
      <a:lnSpc>
        <a:spcPct val="118000"/>
      </a:lnSpc>
      <a:defRPr sz="2200">
        <a:latin typeface="+mn-lt"/>
        <a:ea typeface="+mn-ea"/>
        <a:cs typeface="+mn-cs"/>
        <a:sym typeface="Helvetica Neue"/>
      </a:defRPr>
    </a:lvl5pPr>
    <a:lvl6pPr indent="1143000" defTabSz="457200" latinLnBrk="0">
      <a:lnSpc>
        <a:spcPct val="118000"/>
      </a:lnSpc>
      <a:defRPr sz="2200">
        <a:latin typeface="+mn-lt"/>
        <a:ea typeface="+mn-ea"/>
        <a:cs typeface="+mn-cs"/>
        <a:sym typeface="Helvetica Neue"/>
      </a:defRPr>
    </a:lvl6pPr>
    <a:lvl7pPr indent="1371600" defTabSz="457200" latinLnBrk="0">
      <a:lnSpc>
        <a:spcPct val="118000"/>
      </a:lnSpc>
      <a:defRPr sz="2200">
        <a:latin typeface="+mn-lt"/>
        <a:ea typeface="+mn-ea"/>
        <a:cs typeface="+mn-cs"/>
        <a:sym typeface="Helvetica Neue"/>
      </a:defRPr>
    </a:lvl7pPr>
    <a:lvl8pPr indent="1600200" defTabSz="457200" latinLnBrk="0">
      <a:lnSpc>
        <a:spcPct val="118000"/>
      </a:lnSpc>
      <a:defRPr sz="2200">
        <a:latin typeface="+mn-lt"/>
        <a:ea typeface="+mn-ea"/>
        <a:cs typeface="+mn-cs"/>
        <a:sym typeface="Helvetica Neue"/>
      </a:defRPr>
    </a:lvl8pPr>
    <a:lvl9pPr indent="1828800" defTabSz="457200" latinLnBrk="0">
      <a:lnSpc>
        <a:spcPct val="118000"/>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
    <p:spTree>
      <p:nvGrpSpPr>
        <p:cNvPr id="1" name=""/>
        <p:cNvGrpSpPr/>
        <p:nvPr/>
      </p:nvGrpSpPr>
      <p:grpSpPr>
        <a:xfrm>
          <a:off x="0" y="0"/>
          <a:ext cx="0" cy="0"/>
          <a:chOff x="0" y="0"/>
          <a:chExt cx="0" cy="0"/>
        </a:xfrm>
      </p:grpSpPr>
      <p:sp>
        <p:nvSpPr>
          <p:cNvPr id="11" name="作者和日期"/>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701675">
              <a:lnSpc>
                <a:spcPct val="100000"/>
              </a:lnSpc>
              <a:spcBef>
                <a:spcPts val="0"/>
              </a:spcBef>
              <a:buSzTx/>
              <a:buNone/>
              <a:defRPr sz="3060" b="1"/>
            </a:lvl1pPr>
          </a:lstStyle>
          <a:p>
            <a:r>
              <a:t>作者和日期</a:t>
            </a:r>
          </a:p>
        </p:txBody>
      </p:sp>
      <p:sp>
        <p:nvSpPr>
          <p:cNvPr id="12" name="演示文稿标题"/>
          <p:cNvSpPr txBox="1"/>
          <p:nvPr>
            <p:ph type="title" hasCustomPrompt="1"/>
          </p:nvPr>
        </p:nvSpPr>
        <p:spPr>
          <a:xfrm>
            <a:off x="1206496" y="2574991"/>
            <a:ext cx="21971004" cy="4648201"/>
          </a:xfrm>
          <a:prstGeom prst="rect">
            <a:avLst/>
          </a:prstGeom>
        </p:spPr>
        <p:txBody>
          <a:bodyPr anchor="b"/>
          <a:lstStyle>
            <a:lvl1pPr>
              <a:defRPr sz="11600" spc="-232"/>
            </a:lvl1pPr>
          </a:lstStyle>
          <a:p>
            <a:r>
              <a:t>演示文稿标题</a:t>
            </a:r>
          </a:p>
        </p:txBody>
      </p:sp>
      <p:sp>
        <p:nvSpPr>
          <p:cNvPr id="13" name="正文级别 1…"/>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演示文稿副标题</a:t>
            </a:r>
          </a:p>
          <a:p>
            <a:pPr lvl="1"/>
          </a:p>
          <a:p>
            <a:pPr lvl="2"/>
          </a:p>
          <a:p>
            <a:pPr lvl="3"/>
          </a:p>
          <a:p>
            <a:pPr lvl="4"/>
          </a:p>
        </p:txBody>
      </p:sp>
      <p:sp>
        <p:nvSpPr>
          <p:cNvPr id="14"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与照片">
    <p:spTree>
      <p:nvGrpSpPr>
        <p:cNvPr id="1" name=""/>
        <p:cNvGrpSpPr/>
        <p:nvPr/>
      </p:nvGrpSpPr>
      <p:grpSpPr>
        <a:xfrm>
          <a:off x="0" y="0"/>
          <a:ext cx="0" cy="0"/>
          <a:chOff x="0" y="0"/>
          <a:chExt cx="0" cy="0"/>
        </a:xfrm>
      </p:grpSpPr>
      <p:sp>
        <p:nvSpPr>
          <p:cNvPr id="21" name="鳄梨和酸橙"/>
          <p:cNvSpPr/>
          <p:nvPr>
            <p:ph type="pic" idx="21"/>
          </p:nvPr>
        </p:nvSpPr>
        <p:spPr>
          <a:xfrm>
            <a:off x="-1155700" y="-1295400"/>
            <a:ext cx="26746200" cy="16018933"/>
          </a:xfrm>
          <a:prstGeom prst="rect">
            <a:avLst/>
          </a:prstGeom>
        </p:spPr>
        <p:txBody>
          <a:bodyPr lIns="91439" tIns="45719" rIns="91439" bIns="45719">
            <a:noAutofit/>
          </a:bodyPr>
          <a:lstStyle/>
          <a:p/>
        </p:txBody>
      </p:sp>
      <p:sp>
        <p:nvSpPr>
          <p:cNvPr id="22" name="演示文稿标题"/>
          <p:cNvSpPr txBox="1"/>
          <p:nvPr>
            <p:ph type="title" hasCustomPrompt="1"/>
          </p:nvPr>
        </p:nvSpPr>
        <p:spPr>
          <a:xfrm>
            <a:off x="1206500" y="7124700"/>
            <a:ext cx="21971000" cy="4648200"/>
          </a:xfrm>
          <a:prstGeom prst="rect">
            <a:avLst/>
          </a:prstGeom>
        </p:spPr>
        <p:txBody>
          <a:bodyPr anchor="b"/>
          <a:lstStyle>
            <a:lvl1pPr>
              <a:defRPr sz="11600" spc="-232"/>
            </a:lvl1pPr>
          </a:lstStyle>
          <a:p>
            <a:r>
              <a:t>演示文稿标题</a:t>
            </a:r>
          </a:p>
        </p:txBody>
      </p:sp>
      <p:sp>
        <p:nvSpPr>
          <p:cNvPr id="23" name="作者和日期"/>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701675">
              <a:lnSpc>
                <a:spcPct val="100000"/>
              </a:lnSpc>
              <a:spcBef>
                <a:spcPts val="0"/>
              </a:spcBef>
              <a:buSzTx/>
              <a:buNone/>
              <a:defRPr sz="3060" b="1"/>
            </a:lvl1pPr>
          </a:lstStyle>
          <a:p>
            <a:r>
              <a:t>作者和日期</a:t>
            </a:r>
          </a:p>
        </p:txBody>
      </p:sp>
      <p:sp>
        <p:nvSpPr>
          <p:cNvPr id="24" name="正文级别 1…"/>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演示文稿副标题</a:t>
            </a:r>
          </a:p>
          <a:p>
            <a:pPr lvl="1"/>
          </a:p>
          <a:p>
            <a:pPr lvl="2"/>
          </a:p>
          <a:p>
            <a:pPr lvl="3"/>
          </a:p>
          <a:p>
            <a:pPr lvl="4"/>
          </a:p>
        </p:txBody>
      </p:sp>
      <p:sp>
        <p:nvSpPr>
          <p:cNvPr id="25"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标题与照片（备选）">
    <p:spTree>
      <p:nvGrpSpPr>
        <p:cNvPr id="1" name=""/>
        <p:cNvGrpSpPr/>
        <p:nvPr/>
      </p:nvGrpSpPr>
      <p:grpSpPr>
        <a:xfrm>
          <a:off x="0" y="0"/>
          <a:ext cx="0" cy="0"/>
          <a:chOff x="0" y="0"/>
          <a:chExt cx="0" cy="0"/>
        </a:xfrm>
      </p:grpSpPr>
      <p:sp>
        <p:nvSpPr>
          <p:cNvPr id="32" name="一碗三文鱼饼、沙拉和鹰嘴豆泥"/>
          <p:cNvSpPr/>
          <p:nvPr>
            <p:ph type="pic" idx="21"/>
          </p:nvPr>
        </p:nvSpPr>
        <p:spPr>
          <a:xfrm>
            <a:off x="10972800" y="-203200"/>
            <a:ext cx="12144837" cy="14135100"/>
          </a:xfrm>
          <a:prstGeom prst="rect">
            <a:avLst/>
          </a:prstGeom>
        </p:spPr>
        <p:txBody>
          <a:bodyPr lIns="91439" tIns="45719" rIns="91439" bIns="45719">
            <a:noAutofit/>
          </a:bodyPr>
          <a:lstStyle/>
          <a:p/>
        </p:txBody>
      </p:sp>
      <p:sp>
        <p:nvSpPr>
          <p:cNvPr id="33" name="幻灯片标题"/>
          <p:cNvSpPr txBox="1"/>
          <p:nvPr>
            <p:ph type="title" hasCustomPrompt="1"/>
          </p:nvPr>
        </p:nvSpPr>
        <p:spPr>
          <a:xfrm>
            <a:off x="1206500" y="1270000"/>
            <a:ext cx="9779000" cy="5882273"/>
          </a:xfrm>
          <a:prstGeom prst="rect">
            <a:avLst/>
          </a:prstGeom>
        </p:spPr>
        <p:txBody>
          <a:bodyPr anchor="b"/>
          <a:lstStyle/>
          <a:p>
            <a:r>
              <a:t>幻灯片标题</a:t>
            </a:r>
          </a:p>
        </p:txBody>
      </p:sp>
      <p:sp>
        <p:nvSpPr>
          <p:cNvPr id="34" name="正文级别 1…"/>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幻灯片副标题</a:t>
            </a:r>
          </a:p>
          <a:p>
            <a:pPr lvl="1"/>
          </a:p>
          <a:p>
            <a:pPr lvl="2"/>
          </a:p>
          <a:p>
            <a:pPr lvl="3"/>
          </a:p>
          <a:p>
            <a:pPr lvl="4"/>
          </a:p>
        </p:txBody>
      </p:sp>
      <p:sp>
        <p:nvSpPr>
          <p:cNvPr id="35" name="幻灯片编号"/>
          <p:cNvSpPr txBox="1"/>
          <p:nvPr>
            <p:ph type="sldNum" sz="quarter" idx="2"/>
          </p:nvPr>
        </p:nvSpPr>
        <p:spPr>
          <a:xfrm>
            <a:off x="12001499" y="13085233"/>
            <a:ext cx="368505" cy="374600"/>
          </a:xfrm>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42" name="幻灯片标题"/>
          <p:cNvSpPr txBox="1"/>
          <p:nvPr>
            <p:ph type="title" hasCustomPrompt="1"/>
          </p:nvPr>
        </p:nvSpPr>
        <p:spPr>
          <a:prstGeom prst="rect">
            <a:avLst/>
          </a:prstGeom>
        </p:spPr>
        <p:txBody>
          <a:bodyPr/>
          <a:lstStyle/>
          <a:p>
            <a:r>
              <a:t>幻灯片标题</a:t>
            </a:r>
          </a:p>
        </p:txBody>
      </p:sp>
      <p:sp>
        <p:nvSpPr>
          <p:cNvPr id="43" name="幻灯片副标题"/>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726440">
              <a:lnSpc>
                <a:spcPct val="100000"/>
              </a:lnSpc>
              <a:spcBef>
                <a:spcPts val="0"/>
              </a:spcBef>
              <a:buSzTx/>
              <a:buNone/>
              <a:defRPr sz="4840" b="1"/>
            </a:lvl1pPr>
          </a:lstStyle>
          <a:p>
            <a:r>
              <a:t>幻灯片副标题</a:t>
            </a:r>
          </a:p>
        </p:txBody>
      </p:sp>
      <p:sp>
        <p:nvSpPr>
          <p:cNvPr id="44" name="正文级别 1…"/>
          <p:cNvSpPr txBox="1"/>
          <p:nvPr>
            <p:ph type="body" idx="1" hasCustomPrompt="1"/>
          </p:nvPr>
        </p:nvSpPr>
        <p:spPr>
          <a:prstGeom prst="rect">
            <a:avLst/>
          </a:prstGeom>
        </p:spPr>
        <p:txBody>
          <a:bodyPr/>
          <a:lstStyle/>
          <a:p>
            <a:r>
              <a:t>幻灯片项目符号文本</a:t>
            </a:r>
          </a:p>
          <a:p>
            <a:pPr lvl="1"/>
          </a:p>
          <a:p>
            <a:pPr lvl="2"/>
          </a:p>
          <a:p>
            <a:pPr lvl="3"/>
          </a:p>
          <a:p>
            <a:pPr lvl="4"/>
          </a:p>
        </p:txBody>
      </p:sp>
      <p:sp>
        <p:nvSpPr>
          <p:cNvPr id="45"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项目符号">
    <p:spTree>
      <p:nvGrpSpPr>
        <p:cNvPr id="1" name=""/>
        <p:cNvGrpSpPr/>
        <p:nvPr/>
      </p:nvGrpSpPr>
      <p:grpSpPr>
        <a:xfrm>
          <a:off x="0" y="0"/>
          <a:ext cx="0" cy="0"/>
          <a:chOff x="0" y="0"/>
          <a:chExt cx="0" cy="0"/>
        </a:xfrm>
      </p:grpSpPr>
      <p:sp>
        <p:nvSpPr>
          <p:cNvPr id="52" name="正文级别 1…"/>
          <p:cNvSpPr txBox="1"/>
          <p:nvPr>
            <p:ph type="body" idx="1" hasCustomPrompt="1"/>
          </p:nvPr>
        </p:nvSpPr>
        <p:spPr>
          <a:prstGeom prst="rect">
            <a:avLst/>
          </a:prstGeom>
        </p:spPr>
        <p:txBody>
          <a:bodyPr numCol="2" spcCol="1098550"/>
          <a:lstStyle/>
          <a:p>
            <a:r>
              <a:t>幻灯片项目符号文本</a:t>
            </a:r>
          </a:p>
          <a:p>
            <a:pPr lvl="1"/>
          </a:p>
          <a:p>
            <a:pPr lvl="2"/>
          </a:p>
          <a:p>
            <a:pPr lvl="3"/>
          </a:p>
          <a:p>
            <a:pPr lvl="4"/>
          </a:p>
        </p:txBody>
      </p:sp>
      <p:sp>
        <p:nvSpPr>
          <p:cNvPr id="53"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标题、项目符号与照片">
    <p:spTree>
      <p:nvGrpSpPr>
        <p:cNvPr id="1" name=""/>
        <p:cNvGrpSpPr/>
        <p:nvPr/>
      </p:nvGrpSpPr>
      <p:grpSpPr>
        <a:xfrm>
          <a:off x="0" y="0"/>
          <a:ext cx="0" cy="0"/>
          <a:chOff x="0" y="0"/>
          <a:chExt cx="0" cy="0"/>
        </a:xfrm>
      </p:grpSpPr>
      <p:sp>
        <p:nvSpPr>
          <p:cNvPr id="60" name="幻灯片副标题"/>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726440">
              <a:lnSpc>
                <a:spcPct val="100000"/>
              </a:lnSpc>
              <a:spcBef>
                <a:spcPts val="0"/>
              </a:spcBef>
              <a:buSzTx/>
              <a:buNone/>
              <a:defRPr sz="4840" b="1"/>
            </a:lvl1pPr>
          </a:lstStyle>
          <a:p>
            <a:r>
              <a:t>幻灯片副标题</a:t>
            </a:r>
          </a:p>
        </p:txBody>
      </p:sp>
      <p:sp>
        <p:nvSpPr>
          <p:cNvPr id="61" name="正文级别 1…"/>
          <p:cNvSpPr txBox="1"/>
          <p:nvPr>
            <p:ph type="body" sz="half" idx="1" hasCustomPrompt="1"/>
          </p:nvPr>
        </p:nvSpPr>
        <p:spPr>
          <a:xfrm>
            <a:off x="1206500" y="4248504"/>
            <a:ext cx="9779000" cy="8256630"/>
          </a:xfrm>
          <a:prstGeom prst="rect">
            <a:avLst/>
          </a:prstGeom>
        </p:spPr>
        <p:txBody>
          <a:bodyPr/>
          <a:lstStyle/>
          <a:p>
            <a:r>
              <a:t>幻灯片项目符号文本</a:t>
            </a:r>
          </a:p>
          <a:p>
            <a:pPr lvl="1"/>
          </a:p>
          <a:p>
            <a:pPr lvl="2"/>
          </a:p>
          <a:p>
            <a:pPr lvl="3"/>
          </a:p>
          <a:p>
            <a:pPr lvl="4"/>
          </a:p>
        </p:txBody>
      </p:sp>
      <p:sp>
        <p:nvSpPr>
          <p:cNvPr id="62" name="一碗宽意大利面配有欧芹黄油、烤榛子和帕尔马干酪"/>
          <p:cNvSpPr/>
          <p:nvPr>
            <p:ph type="pic" idx="22"/>
          </p:nvPr>
        </p:nvSpPr>
        <p:spPr>
          <a:xfrm>
            <a:off x="12192000" y="-407266"/>
            <a:ext cx="10916874" cy="14555832"/>
          </a:xfrm>
          <a:prstGeom prst="rect">
            <a:avLst/>
          </a:prstGeom>
        </p:spPr>
        <p:txBody>
          <a:bodyPr lIns="91439" tIns="45719" rIns="91439" bIns="45719">
            <a:noAutofit/>
          </a:bodyPr>
          <a:lstStyle/>
          <a:p/>
        </p:txBody>
      </p:sp>
      <p:sp>
        <p:nvSpPr>
          <p:cNvPr id="63" name="幻灯片标题"/>
          <p:cNvSpPr txBox="1"/>
          <p:nvPr>
            <p:ph type="title" hasCustomPrompt="1"/>
          </p:nvPr>
        </p:nvSpPr>
        <p:spPr>
          <a:xfrm>
            <a:off x="1206500" y="1079500"/>
            <a:ext cx="9779000" cy="1435100"/>
          </a:xfrm>
          <a:prstGeom prst="rect">
            <a:avLst/>
          </a:prstGeom>
        </p:spPr>
        <p:txBody>
          <a:bodyPr/>
          <a:lstStyle/>
          <a:p>
            <a:r>
              <a:t>幻灯片标题</a:t>
            </a:r>
          </a:p>
        </p:txBody>
      </p:sp>
      <p:sp>
        <p:nvSpPr>
          <p:cNvPr id="64"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标题、项目符号与实时视频（小）">
    <p:spTree>
      <p:nvGrpSpPr>
        <p:cNvPr id="1" name=""/>
        <p:cNvGrpSpPr/>
        <p:nvPr/>
      </p:nvGrpSpPr>
      <p:grpSpPr>
        <a:xfrm>
          <a:off x="0" y="0"/>
          <a:ext cx="0" cy="0"/>
          <a:chOff x="0" y="0"/>
          <a:chExt cx="0" cy="0"/>
        </a:xfrm>
      </p:grpSpPr>
      <p:sp>
        <p:nvSpPr>
          <p:cNvPr id="71" name="幻灯片副标题"/>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726440">
              <a:lnSpc>
                <a:spcPct val="100000"/>
              </a:lnSpc>
              <a:spcBef>
                <a:spcPts val="0"/>
              </a:spcBef>
              <a:buSzTx/>
              <a:buNone/>
              <a:defRPr sz="4840" b="1"/>
            </a:lvl1pPr>
          </a:lstStyle>
          <a:p>
            <a:r>
              <a:t>幻灯片副标题</a:t>
            </a:r>
          </a:p>
        </p:txBody>
      </p:sp>
      <p:sp>
        <p:nvSpPr>
          <p:cNvPr id="72" name="正文级别 1…"/>
          <p:cNvSpPr txBox="1"/>
          <p:nvPr>
            <p:ph type="body" sz="half" idx="1" hasCustomPrompt="1"/>
          </p:nvPr>
        </p:nvSpPr>
        <p:spPr>
          <a:xfrm>
            <a:off x="1206500" y="4248504"/>
            <a:ext cx="9779000" cy="8256630"/>
          </a:xfrm>
          <a:prstGeom prst="rect">
            <a:avLst/>
          </a:prstGeom>
        </p:spPr>
        <p:txBody>
          <a:bodyPr/>
          <a:lstStyle/>
          <a:p>
            <a:r>
              <a:t>幻灯片项目符号文本</a:t>
            </a:r>
          </a:p>
          <a:p>
            <a:pPr lvl="1"/>
          </a:p>
          <a:p>
            <a:pPr lvl="2"/>
          </a:p>
          <a:p>
            <a:pPr lvl="3"/>
          </a:p>
          <a:p>
            <a:pPr lvl="4"/>
          </a:p>
        </p:txBody>
      </p:sp>
      <p:sp>
        <p:nvSpPr>
          <p:cNvPr id="73" name="幻灯片标题"/>
          <p:cNvSpPr txBox="1"/>
          <p:nvPr>
            <p:ph type="title" hasCustomPrompt="1"/>
          </p:nvPr>
        </p:nvSpPr>
        <p:spPr>
          <a:xfrm>
            <a:off x="1206500" y="1079500"/>
            <a:ext cx="9779000" cy="1435100"/>
          </a:xfrm>
          <a:prstGeom prst="rect">
            <a:avLst/>
          </a:prstGeom>
        </p:spPr>
        <p:txBody>
          <a:bodyPr/>
          <a:lstStyle/>
          <a:p>
            <a:r>
              <a:t>幻灯片标题</a:t>
            </a:r>
          </a:p>
        </p:txBody>
      </p:sp>
      <p:sp>
        <p:nvSpPr>
          <p:cNvPr id="74"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标题、项目符号与实时视频（大）">
    <p:spTree>
      <p:nvGrpSpPr>
        <p:cNvPr id="1" name=""/>
        <p:cNvGrpSpPr/>
        <p:nvPr/>
      </p:nvGrpSpPr>
      <p:grpSpPr>
        <a:xfrm>
          <a:off x="0" y="0"/>
          <a:ext cx="0" cy="0"/>
          <a:chOff x="0" y="0"/>
          <a:chExt cx="0" cy="0"/>
        </a:xfrm>
      </p:grpSpPr>
      <p:sp>
        <p:nvSpPr>
          <p:cNvPr id="81" name="幻灯片副标题"/>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726440">
              <a:lnSpc>
                <a:spcPct val="100000"/>
              </a:lnSpc>
              <a:spcBef>
                <a:spcPts val="0"/>
              </a:spcBef>
              <a:buSzTx/>
              <a:buNone/>
              <a:defRPr sz="4840" b="1"/>
            </a:lvl1pPr>
          </a:lstStyle>
          <a:p>
            <a:r>
              <a:t>幻灯片副标题</a:t>
            </a:r>
          </a:p>
        </p:txBody>
      </p:sp>
      <p:sp>
        <p:nvSpPr>
          <p:cNvPr id="82" name="正文级别 1…"/>
          <p:cNvSpPr txBox="1"/>
          <p:nvPr>
            <p:ph type="body" sz="half" idx="1" hasCustomPrompt="1"/>
          </p:nvPr>
        </p:nvSpPr>
        <p:spPr>
          <a:xfrm>
            <a:off x="1206500" y="4248504"/>
            <a:ext cx="9779000" cy="8256630"/>
          </a:xfrm>
          <a:prstGeom prst="rect">
            <a:avLst/>
          </a:prstGeom>
        </p:spPr>
        <p:txBody>
          <a:bodyPr/>
          <a:lstStyle/>
          <a:p>
            <a:r>
              <a:t>幻灯片项目符号文本</a:t>
            </a:r>
          </a:p>
          <a:p>
            <a:pPr lvl="1"/>
          </a:p>
          <a:p>
            <a:pPr lvl="2"/>
          </a:p>
          <a:p>
            <a:pPr lvl="3"/>
          </a:p>
          <a:p>
            <a:pPr lvl="4"/>
          </a:p>
        </p:txBody>
      </p:sp>
      <p:sp>
        <p:nvSpPr>
          <p:cNvPr id="83" name="幻灯片标题"/>
          <p:cNvSpPr txBox="1"/>
          <p:nvPr>
            <p:ph type="title" hasCustomPrompt="1"/>
          </p:nvPr>
        </p:nvSpPr>
        <p:spPr>
          <a:xfrm>
            <a:off x="1206500" y="1079500"/>
            <a:ext cx="9779000" cy="1435100"/>
          </a:xfrm>
          <a:prstGeom prst="rect">
            <a:avLst/>
          </a:prstGeom>
        </p:spPr>
        <p:txBody>
          <a:bodyPr/>
          <a:lstStyle/>
          <a:p>
            <a:r>
              <a:t>幻灯片标题</a:t>
            </a:r>
          </a:p>
        </p:txBody>
      </p:sp>
      <p:sp>
        <p:nvSpPr>
          <p:cNvPr id="84"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节">
    <p:spTree>
      <p:nvGrpSpPr>
        <p:cNvPr id="1" name=""/>
        <p:cNvGrpSpPr/>
        <p:nvPr/>
      </p:nvGrpSpPr>
      <p:grpSpPr>
        <a:xfrm>
          <a:off x="0" y="0"/>
          <a:ext cx="0" cy="0"/>
          <a:chOff x="0" y="0"/>
          <a:chExt cx="0" cy="0"/>
        </a:xfrm>
      </p:grpSpPr>
      <p:sp>
        <p:nvSpPr>
          <p:cNvPr id="91" name="章节标题"/>
          <p:cNvSpPr txBox="1"/>
          <p:nvPr>
            <p:ph type="title" hasCustomPrompt="1"/>
          </p:nvPr>
        </p:nvSpPr>
        <p:spPr>
          <a:xfrm>
            <a:off x="1206496" y="4533900"/>
            <a:ext cx="21971004" cy="4648200"/>
          </a:xfrm>
          <a:prstGeom prst="rect">
            <a:avLst/>
          </a:prstGeom>
        </p:spPr>
        <p:txBody>
          <a:bodyPr anchor="ctr"/>
          <a:lstStyle>
            <a:lvl1pPr>
              <a:defRPr sz="11600" b="0" spc="-232">
                <a:latin typeface="Helvetica Neue Medium"/>
                <a:ea typeface="Helvetica Neue Medium"/>
                <a:cs typeface="Helvetica Neue Medium"/>
                <a:sym typeface="Helvetica Neue Medium"/>
              </a:defRPr>
            </a:lvl1pPr>
          </a:lstStyle>
          <a:p>
            <a:r>
              <a:t>章节标题</a:t>
            </a:r>
          </a:p>
        </p:txBody>
      </p:sp>
      <p:sp>
        <p:nvSpPr>
          <p:cNvPr id="92" name="幻灯片编号"/>
          <p:cNvSpPr txBox="1"/>
          <p:nvPr>
            <p:ph type="sldNum" sz="quarter" idx="2"/>
          </p:nvPr>
        </p:nvSpPr>
        <p:spPr>
          <a:xfrm>
            <a:off x="12001499" y="13085233"/>
            <a:ext cx="368505" cy="374600"/>
          </a:xfrm>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仅标题">
    <p:spTree>
      <p:nvGrpSpPr>
        <p:cNvPr id="1" name=""/>
        <p:cNvGrpSpPr/>
        <p:nvPr/>
      </p:nvGrpSpPr>
      <p:grpSpPr>
        <a:xfrm>
          <a:off x="0" y="0"/>
          <a:ext cx="0" cy="0"/>
          <a:chOff x="0" y="0"/>
          <a:chExt cx="0" cy="0"/>
        </a:xfrm>
      </p:grpSpPr>
      <p:sp>
        <p:nvSpPr>
          <p:cNvPr id="99" name="幻灯片标题"/>
          <p:cNvSpPr txBox="1"/>
          <p:nvPr>
            <p:ph type="title" hasCustomPrompt="1"/>
          </p:nvPr>
        </p:nvSpPr>
        <p:spPr>
          <a:xfrm>
            <a:off x="1206500" y="1079500"/>
            <a:ext cx="21971000" cy="1434949"/>
          </a:xfrm>
          <a:prstGeom prst="rect">
            <a:avLst/>
          </a:prstGeom>
        </p:spPr>
        <p:txBody>
          <a:bodyPr/>
          <a:lstStyle/>
          <a:p>
            <a:r>
              <a:t>幻灯片标题</a:t>
            </a:r>
          </a:p>
        </p:txBody>
      </p:sp>
      <p:sp>
        <p:nvSpPr>
          <p:cNvPr id="100" name="幻灯片副标题"/>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726440">
              <a:lnSpc>
                <a:spcPct val="100000"/>
              </a:lnSpc>
              <a:spcBef>
                <a:spcPts val="0"/>
              </a:spcBef>
              <a:buSzTx/>
              <a:buNone/>
              <a:defRPr sz="4840" b="1"/>
            </a:lvl1pPr>
          </a:lstStyle>
          <a:p>
            <a:r>
              <a:t>幻灯片副标题</a:t>
            </a:r>
          </a:p>
        </p:txBody>
      </p:sp>
      <p:sp>
        <p:nvSpPr>
          <p:cNvPr id="101"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议程">
    <p:spTree>
      <p:nvGrpSpPr>
        <p:cNvPr id="1" name=""/>
        <p:cNvGrpSpPr/>
        <p:nvPr/>
      </p:nvGrpSpPr>
      <p:grpSpPr>
        <a:xfrm>
          <a:off x="0" y="0"/>
          <a:ext cx="0" cy="0"/>
          <a:chOff x="0" y="0"/>
          <a:chExt cx="0" cy="0"/>
        </a:xfrm>
      </p:grpSpPr>
      <p:sp>
        <p:nvSpPr>
          <p:cNvPr id="108" name="议程标题"/>
          <p:cNvSpPr txBox="1"/>
          <p:nvPr>
            <p:ph type="title" hasCustomPrompt="1"/>
          </p:nvPr>
        </p:nvSpPr>
        <p:spPr>
          <a:xfrm>
            <a:off x="1206500" y="1079500"/>
            <a:ext cx="21971000" cy="1435100"/>
          </a:xfrm>
          <a:prstGeom prst="rect">
            <a:avLst/>
          </a:prstGeom>
        </p:spPr>
        <p:txBody>
          <a:bodyPr/>
          <a:lstStyle/>
          <a:p>
            <a:r>
              <a:t>议程标题</a:t>
            </a:r>
          </a:p>
        </p:txBody>
      </p:sp>
      <p:sp>
        <p:nvSpPr>
          <p:cNvPr id="109" name="议程副标题"/>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726440">
              <a:lnSpc>
                <a:spcPct val="100000"/>
              </a:lnSpc>
              <a:spcBef>
                <a:spcPts val="0"/>
              </a:spcBef>
              <a:buSzTx/>
              <a:buNone/>
              <a:defRPr sz="4840" b="1"/>
            </a:lvl1pPr>
          </a:lstStyle>
          <a:p>
            <a:r>
              <a:t>议程副标题</a:t>
            </a:r>
          </a:p>
        </p:txBody>
      </p:sp>
      <p:sp>
        <p:nvSpPr>
          <p:cNvPr id="110" name="正文级别 1…"/>
          <p:cNvSpPr txBox="1"/>
          <p:nvPr>
            <p:ph type="body" idx="1" hasCustomPrompt="1"/>
          </p:nvPr>
        </p:nvSpPr>
        <p:spPr>
          <a:prstGeom prst="rect">
            <a:avLst/>
          </a:prstGeom>
        </p:spPr>
        <p:txBody>
          <a:bodyPr/>
          <a:lstStyle>
            <a:lvl1pPr marL="0" indent="0" defTabSz="825500">
              <a:lnSpc>
                <a:spcPct val="100000"/>
              </a:lnSpc>
              <a:spcBef>
                <a:spcPts val="1800"/>
              </a:spcBef>
              <a:buSzTx/>
              <a:buNone/>
              <a:defRPr sz="5500" spc="-55"/>
            </a:lvl1pPr>
            <a:lvl2pPr marL="0" indent="457200" defTabSz="825500">
              <a:lnSpc>
                <a:spcPct val="100000"/>
              </a:lnSpc>
              <a:spcBef>
                <a:spcPts val="1800"/>
              </a:spcBef>
              <a:buSzTx/>
              <a:buNone/>
              <a:defRPr sz="5500" spc="-55"/>
            </a:lvl2pPr>
            <a:lvl3pPr marL="0" indent="914400" defTabSz="825500">
              <a:lnSpc>
                <a:spcPct val="100000"/>
              </a:lnSpc>
              <a:spcBef>
                <a:spcPts val="1800"/>
              </a:spcBef>
              <a:buSzTx/>
              <a:buNone/>
              <a:defRPr sz="5500" spc="-55"/>
            </a:lvl3pPr>
            <a:lvl4pPr marL="0" indent="1371600" defTabSz="825500">
              <a:lnSpc>
                <a:spcPct val="100000"/>
              </a:lnSpc>
              <a:spcBef>
                <a:spcPts val="1800"/>
              </a:spcBef>
              <a:buSzTx/>
              <a:buNone/>
              <a:defRPr sz="5500" spc="-55"/>
            </a:lvl4pPr>
            <a:lvl5pPr marL="0" indent="1828800" defTabSz="825500">
              <a:lnSpc>
                <a:spcPct val="100000"/>
              </a:lnSpc>
              <a:spcBef>
                <a:spcPts val="1800"/>
              </a:spcBef>
              <a:buSzTx/>
              <a:buNone/>
              <a:defRPr sz="5500" spc="-55"/>
            </a:lvl5pPr>
          </a:lstStyle>
          <a:p>
            <a:r>
              <a:t>议程主题</a:t>
            </a:r>
          </a:p>
          <a:p>
            <a:pPr lvl="1"/>
          </a:p>
          <a:p>
            <a:pPr lvl="2"/>
          </a:p>
          <a:p>
            <a:pPr lvl="3"/>
          </a:p>
          <a:p>
            <a:pPr lvl="4"/>
          </a:p>
        </p:txBody>
      </p:sp>
      <p:sp>
        <p:nvSpPr>
          <p:cNvPr id="111"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说明">
    <p:spTree>
      <p:nvGrpSpPr>
        <p:cNvPr id="1" name=""/>
        <p:cNvGrpSpPr/>
        <p:nvPr/>
      </p:nvGrpSpPr>
      <p:grpSpPr>
        <a:xfrm>
          <a:off x="0" y="0"/>
          <a:ext cx="0" cy="0"/>
          <a:chOff x="0" y="0"/>
          <a:chExt cx="0" cy="0"/>
        </a:xfrm>
      </p:grpSpPr>
      <p:sp>
        <p:nvSpPr>
          <p:cNvPr id="118" name="正文级别 1…"/>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z="11600" spc="-232">
                <a:latin typeface="Helvetica Neue Medium"/>
                <a:ea typeface="Helvetica Neue Medium"/>
                <a:cs typeface="Helvetica Neue Medium"/>
                <a:sym typeface="Helvetica Neue Medium"/>
              </a:defRPr>
            </a:lvl1pPr>
            <a:lvl2pPr marL="0" indent="457200" algn="ctr">
              <a:lnSpc>
                <a:spcPct val="80000"/>
              </a:lnSpc>
              <a:spcBef>
                <a:spcPts val="0"/>
              </a:spcBef>
              <a:buSzTx/>
              <a:buNone/>
              <a:defRPr sz="11600" spc="-232">
                <a:latin typeface="Helvetica Neue Medium"/>
                <a:ea typeface="Helvetica Neue Medium"/>
                <a:cs typeface="Helvetica Neue Medium"/>
                <a:sym typeface="Helvetica Neue Medium"/>
              </a:defRPr>
            </a:lvl2pPr>
            <a:lvl3pPr marL="0" indent="914400" algn="ctr">
              <a:lnSpc>
                <a:spcPct val="80000"/>
              </a:lnSpc>
              <a:spcBef>
                <a:spcPts val="0"/>
              </a:spcBef>
              <a:buSzTx/>
              <a:buNone/>
              <a:defRPr sz="11600" spc="-232">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z="11600" spc="-232">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z="11600" spc="-232">
                <a:latin typeface="Helvetica Neue Medium"/>
                <a:ea typeface="Helvetica Neue Medium"/>
                <a:cs typeface="Helvetica Neue Medium"/>
                <a:sym typeface="Helvetica Neue Medium"/>
              </a:defRPr>
            </a:lvl5pPr>
          </a:lstStyle>
          <a:p>
            <a:r>
              <a:t>说明</a:t>
            </a:r>
          </a:p>
          <a:p>
            <a:pPr lvl="1"/>
          </a:p>
          <a:p>
            <a:pPr lvl="2"/>
          </a:p>
          <a:p>
            <a:pPr lvl="3"/>
          </a:p>
          <a:p>
            <a:pPr lvl="4"/>
          </a:p>
        </p:txBody>
      </p:sp>
      <p:sp>
        <p:nvSpPr>
          <p:cNvPr id="119"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显著事实">
    <p:spTree>
      <p:nvGrpSpPr>
        <p:cNvPr id="1" name=""/>
        <p:cNvGrpSpPr/>
        <p:nvPr/>
      </p:nvGrpSpPr>
      <p:grpSpPr>
        <a:xfrm>
          <a:off x="0" y="0"/>
          <a:ext cx="0" cy="0"/>
          <a:chOff x="0" y="0"/>
          <a:chExt cx="0" cy="0"/>
        </a:xfrm>
      </p:grpSpPr>
      <p:sp>
        <p:nvSpPr>
          <p:cNvPr id="126" name="正文级别 1…"/>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z="25000" b="1" spc="-250"/>
            </a:lvl1pPr>
            <a:lvl2pPr marL="0" indent="457200" algn="ctr">
              <a:lnSpc>
                <a:spcPct val="80000"/>
              </a:lnSpc>
              <a:spcBef>
                <a:spcPts val="0"/>
              </a:spcBef>
              <a:buSzTx/>
              <a:buNone/>
              <a:defRPr sz="25000" b="1" spc="-250"/>
            </a:lvl2pPr>
            <a:lvl3pPr marL="0" indent="914400" algn="ctr">
              <a:lnSpc>
                <a:spcPct val="80000"/>
              </a:lnSpc>
              <a:spcBef>
                <a:spcPts val="0"/>
              </a:spcBef>
              <a:buSzTx/>
              <a:buNone/>
              <a:defRPr sz="25000" b="1" spc="-250"/>
            </a:lvl3pPr>
            <a:lvl4pPr marL="0" indent="1371600" algn="ctr">
              <a:lnSpc>
                <a:spcPct val="80000"/>
              </a:lnSpc>
              <a:spcBef>
                <a:spcPts val="0"/>
              </a:spcBef>
              <a:buSzTx/>
              <a:buNone/>
              <a:defRPr sz="25000" b="1" spc="-250"/>
            </a:lvl4pPr>
            <a:lvl5pPr marL="0" indent="1828800" algn="ctr">
              <a:lnSpc>
                <a:spcPct val="80000"/>
              </a:lnSpc>
              <a:spcBef>
                <a:spcPts val="0"/>
              </a:spcBef>
              <a:buSzTx/>
              <a:buNone/>
              <a:defRPr sz="25000" b="1" spc="-250"/>
            </a:lvl5pPr>
          </a:lstStyle>
          <a:p>
            <a:r>
              <a:t>100%</a:t>
            </a:r>
          </a:p>
          <a:p>
            <a:pPr lvl="1"/>
          </a:p>
          <a:p>
            <a:pPr lvl="2"/>
          </a:p>
          <a:p>
            <a:pPr lvl="3"/>
          </a:p>
          <a:p>
            <a:pPr lvl="4"/>
          </a:p>
        </p:txBody>
      </p:sp>
      <p:sp>
        <p:nvSpPr>
          <p:cNvPr id="127" name="事实信息"/>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726440">
              <a:lnSpc>
                <a:spcPct val="100000"/>
              </a:lnSpc>
              <a:spcBef>
                <a:spcPts val="0"/>
              </a:spcBef>
              <a:buSzTx/>
              <a:buNone/>
              <a:defRPr sz="4840" b="1"/>
            </a:lvl1pPr>
          </a:lstStyle>
          <a:p>
            <a:r>
              <a:t>事实信息</a:t>
            </a:r>
          </a:p>
        </p:txBody>
      </p:sp>
      <p:sp>
        <p:nvSpPr>
          <p:cNvPr id="128"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
        <p:nvSpPr>
          <p:cNvPr id="135" name="出自"/>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701675">
              <a:lnSpc>
                <a:spcPct val="100000"/>
              </a:lnSpc>
              <a:spcBef>
                <a:spcPts val="0"/>
              </a:spcBef>
              <a:buSzTx/>
              <a:buNone/>
              <a:defRPr sz="3060" b="1"/>
            </a:lvl1pPr>
          </a:lstStyle>
          <a:p>
            <a:r>
              <a:t>出自</a:t>
            </a:r>
          </a:p>
        </p:txBody>
      </p:sp>
      <p:sp>
        <p:nvSpPr>
          <p:cNvPr id="136" name="正文级别 1…"/>
          <p:cNvSpPr txBox="1"/>
          <p:nvPr>
            <p:ph type="body" sz="half" idx="1" hasCustomPrompt="1"/>
          </p:nvPr>
        </p:nvSpPr>
        <p:spPr>
          <a:xfrm>
            <a:off x="1753923" y="4939860"/>
            <a:ext cx="20876154" cy="3836280"/>
          </a:xfrm>
          <a:prstGeom prst="rect">
            <a:avLst/>
          </a:prstGeom>
        </p:spPr>
        <p:txBody>
          <a:bodyPr/>
          <a:lstStyle>
            <a:lvl1pPr marL="638810" indent="-469900">
              <a:spcBef>
                <a:spcPts val="0"/>
              </a:spcBef>
              <a:buSzTx/>
              <a:buNone/>
              <a:defRPr sz="8500" spc="-170">
                <a:latin typeface="Helvetica Neue Medium"/>
                <a:ea typeface="Helvetica Neue Medium"/>
                <a:cs typeface="Helvetica Neue Medium"/>
                <a:sym typeface="Helvetica Neue Medium"/>
              </a:defRPr>
            </a:lvl1pPr>
            <a:lvl2pPr marL="638810" indent="-12700">
              <a:spcBef>
                <a:spcPts val="0"/>
              </a:spcBef>
              <a:buSzTx/>
              <a:buNone/>
              <a:defRPr sz="8500" spc="-170">
                <a:latin typeface="Helvetica Neue Medium"/>
                <a:ea typeface="Helvetica Neue Medium"/>
                <a:cs typeface="Helvetica Neue Medium"/>
                <a:sym typeface="Helvetica Neue Medium"/>
              </a:defRPr>
            </a:lvl2pPr>
            <a:lvl3pPr marL="638810" indent="444500">
              <a:spcBef>
                <a:spcPts val="0"/>
              </a:spcBef>
              <a:buSzTx/>
              <a:buNone/>
              <a:defRPr sz="8500" spc="-170">
                <a:latin typeface="Helvetica Neue Medium"/>
                <a:ea typeface="Helvetica Neue Medium"/>
                <a:cs typeface="Helvetica Neue Medium"/>
                <a:sym typeface="Helvetica Neue Medium"/>
              </a:defRPr>
            </a:lvl3pPr>
            <a:lvl4pPr marL="638810" indent="901700">
              <a:spcBef>
                <a:spcPts val="0"/>
              </a:spcBef>
              <a:buSzTx/>
              <a:buNone/>
              <a:defRPr sz="8500" spc="-170">
                <a:latin typeface="Helvetica Neue Medium"/>
                <a:ea typeface="Helvetica Neue Medium"/>
                <a:cs typeface="Helvetica Neue Medium"/>
                <a:sym typeface="Helvetica Neue Medium"/>
              </a:defRPr>
            </a:lvl4pPr>
            <a:lvl5pPr marL="638810" indent="1358900">
              <a:spcBef>
                <a:spcPts val="0"/>
              </a:spcBef>
              <a:buSzTx/>
              <a:buNone/>
              <a:defRPr sz="8500" spc="-170">
                <a:latin typeface="Helvetica Neue Medium"/>
                <a:ea typeface="Helvetica Neue Medium"/>
                <a:cs typeface="Helvetica Neue Medium"/>
                <a:sym typeface="Helvetica Neue Medium"/>
              </a:defRPr>
            </a:lvl5pPr>
          </a:lstStyle>
          <a:p>
            <a:r>
              <a:t>“著名引文”</a:t>
            </a:r>
          </a:p>
          <a:p>
            <a:pPr lvl="1"/>
          </a:p>
          <a:p>
            <a:pPr lvl="2"/>
          </a:p>
          <a:p>
            <a:pPr lvl="3"/>
          </a:p>
          <a:p>
            <a:pPr lvl="4"/>
          </a:p>
        </p:txBody>
      </p:sp>
      <p:sp>
        <p:nvSpPr>
          <p:cNvPr id="137"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照片 - 3 联">
    <p:spTree>
      <p:nvGrpSpPr>
        <p:cNvPr id="1" name=""/>
        <p:cNvGrpSpPr/>
        <p:nvPr/>
      </p:nvGrpSpPr>
      <p:grpSpPr>
        <a:xfrm>
          <a:off x="0" y="0"/>
          <a:ext cx="0" cy="0"/>
          <a:chOff x="0" y="0"/>
          <a:chExt cx="0" cy="0"/>
        </a:xfrm>
      </p:grpSpPr>
      <p:sp>
        <p:nvSpPr>
          <p:cNvPr id="144" name="一碗沙拉配有炒饭、水煮蛋和一双筷子"/>
          <p:cNvSpPr/>
          <p:nvPr>
            <p:ph type="pic" sz="quarter" idx="21"/>
          </p:nvPr>
        </p:nvSpPr>
        <p:spPr>
          <a:xfrm>
            <a:off x="15760700" y="1016000"/>
            <a:ext cx="7439099" cy="5949678"/>
          </a:xfrm>
          <a:prstGeom prst="rect">
            <a:avLst/>
          </a:prstGeom>
        </p:spPr>
        <p:txBody>
          <a:bodyPr lIns="91439" tIns="45719" rIns="91439" bIns="45719">
            <a:noAutofit/>
          </a:bodyPr>
          <a:lstStyle/>
          <a:p/>
        </p:txBody>
      </p:sp>
      <p:sp>
        <p:nvSpPr>
          <p:cNvPr id="145" name="一碗三文鱼饼、沙拉和鹰嘴豆泥"/>
          <p:cNvSpPr/>
          <p:nvPr>
            <p:ph type="pic" sz="half" idx="22"/>
          </p:nvPr>
        </p:nvSpPr>
        <p:spPr>
          <a:xfrm>
            <a:off x="13500100" y="3978275"/>
            <a:ext cx="10439400" cy="12150181"/>
          </a:xfrm>
          <a:prstGeom prst="rect">
            <a:avLst/>
          </a:prstGeom>
        </p:spPr>
        <p:txBody>
          <a:bodyPr lIns="91439" tIns="45719" rIns="91439" bIns="45719">
            <a:noAutofit/>
          </a:bodyPr>
          <a:lstStyle/>
          <a:p/>
        </p:txBody>
      </p:sp>
      <p:sp>
        <p:nvSpPr>
          <p:cNvPr id="146" name="一碗宽意大利面配有欧芹黄油、烤榛子和帕尔马干酪"/>
          <p:cNvSpPr/>
          <p:nvPr>
            <p:ph type="pic" idx="23"/>
          </p:nvPr>
        </p:nvSpPr>
        <p:spPr>
          <a:xfrm>
            <a:off x="-139700" y="495300"/>
            <a:ext cx="16611600" cy="12458700"/>
          </a:xfrm>
          <a:prstGeom prst="rect">
            <a:avLst/>
          </a:prstGeom>
        </p:spPr>
        <p:txBody>
          <a:bodyPr lIns="91439" tIns="45719" rIns="91439" bIns="45719">
            <a:noAutofit/>
          </a:bodyPr>
          <a:lstStyle/>
          <a:p/>
        </p:txBody>
      </p:sp>
      <p:sp>
        <p:nvSpPr>
          <p:cNvPr id="147"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照片">
    <p:spTree>
      <p:nvGrpSpPr>
        <p:cNvPr id="1" name=""/>
        <p:cNvGrpSpPr/>
        <p:nvPr/>
      </p:nvGrpSpPr>
      <p:grpSpPr>
        <a:xfrm>
          <a:off x="0" y="0"/>
          <a:ext cx="0" cy="0"/>
          <a:chOff x="0" y="0"/>
          <a:chExt cx="0" cy="0"/>
        </a:xfrm>
      </p:grpSpPr>
      <p:sp>
        <p:nvSpPr>
          <p:cNvPr id="154" name="一碗沙拉配有炒饭、水煮蛋和一双筷子"/>
          <p:cNvSpPr/>
          <p:nvPr>
            <p:ph type="pic" idx="21"/>
          </p:nvPr>
        </p:nvSpPr>
        <p:spPr>
          <a:xfrm>
            <a:off x="-1333500" y="-5524500"/>
            <a:ext cx="27051000" cy="21640800"/>
          </a:xfrm>
          <a:prstGeom prst="rect">
            <a:avLst/>
          </a:prstGeom>
        </p:spPr>
        <p:txBody>
          <a:bodyPr lIns="91439" tIns="45719" rIns="91439" bIns="45719">
            <a:noAutofit/>
          </a:bodyPr>
          <a:lstStyle/>
          <a:p/>
        </p:txBody>
      </p:sp>
      <p:sp>
        <p:nvSpPr>
          <p:cNvPr id="155" name="幻灯片编号"/>
          <p:cNvSpPr txBox="1"/>
          <p:nvPr>
            <p:ph type="sldNum" sz="quarter" idx="2"/>
          </p:nvPr>
        </p:nvSpPr>
        <p:spPr>
          <a:prstGeom prst="rect">
            <a:avLst/>
          </a:prstGeom>
        </p:spPr>
        <p:txBody>
          <a:bodyPr/>
          <a:lstStyle>
            <a:lvl1pPr>
              <a:defRPr>
                <a:solidFill>
                  <a:srgbClr val="FFFFFF"/>
                </a:solidFill>
              </a:defRPr>
            </a:lvl1pPr>
          </a:lstStyle>
          <a:p>
            <a:fld id="{86CB4B4D-7CA3-9044-876B-883B54F8677D}" type="slidenum">
              <a:rPr/>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62"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幻灯片标题"/>
          <p:cNvSpPr txBox="1"/>
          <p:nvPr>
            <p:ph type="title" hasCustomPrompt="1"/>
          </p:nvPr>
        </p:nvSpPr>
        <p:spPr>
          <a:xfrm>
            <a:off x="1206500" y="1079500"/>
            <a:ext cx="21971000" cy="1433163"/>
          </a:xfrm>
          <a:prstGeom prst="rect">
            <a:avLst/>
          </a:prstGeom>
          <a:ln w="12700">
            <a:miter lim="400000"/>
          </a:ln>
        </p:spPr>
        <p:txBody>
          <a:bodyPr lIns="50800" tIns="50800" rIns="50800" bIns="50800">
            <a:normAutofit/>
          </a:bodyPr>
          <a:lstStyle/>
          <a:p>
            <a:r>
              <a:t>幻灯片标题</a:t>
            </a:r>
          </a:p>
        </p:txBody>
      </p:sp>
      <p:sp>
        <p:nvSpPr>
          <p:cNvPr id="3" name="正文级别 1…"/>
          <p:cNvSpPr txBox="1"/>
          <p:nvPr>
            <p:ph type="body" idx="1" hasCustomPrompt="1"/>
          </p:nvPr>
        </p:nvSpPr>
        <p:spPr>
          <a:xfrm>
            <a:off x="1206500" y="4248504"/>
            <a:ext cx="21971000" cy="8256012"/>
          </a:xfrm>
          <a:prstGeom prst="rect">
            <a:avLst/>
          </a:prstGeom>
          <a:ln w="12700">
            <a:miter lim="400000"/>
          </a:ln>
        </p:spPr>
        <p:txBody>
          <a:bodyPr lIns="50800" tIns="50800" rIns="50800" bIns="50800">
            <a:normAutofit/>
          </a:bodyPr>
          <a:lstStyle/>
          <a:p>
            <a:r>
              <a:t>幻灯片项目符号文本</a:t>
            </a:r>
          </a:p>
          <a:p>
            <a:pPr lvl="1"/>
          </a:p>
          <a:p>
            <a:pPr lvl="2"/>
          </a:p>
          <a:p>
            <a:pPr lvl="3"/>
          </a:p>
          <a:p>
            <a:pPr lvl="4"/>
          </a:p>
        </p:txBody>
      </p:sp>
      <p:sp>
        <p:nvSpPr>
          <p:cNvPr id="4" name="幻灯片编号"/>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txStyles>
    <p:titleStyle>
      <a:lvl1pPr marL="0" marR="0" indent="0" algn="l" defTabSz="2438400" rtl="0" latinLnBrk="0">
        <a:lnSpc>
          <a:spcPct val="80000"/>
        </a:lnSpc>
        <a:spcBef>
          <a:spcPts val="0"/>
        </a:spcBef>
        <a:spcAft>
          <a:spcPts val="0"/>
        </a:spcAft>
        <a:buClrTx/>
        <a:buSzTx/>
        <a:buFontTx/>
        <a:buNone/>
        <a:defRPr sz="8500" b="1" i="0" u="none" strike="noStrike" cap="none" spc="-170" baseline="0">
          <a:solidFill>
            <a:srgbClr val="000000"/>
          </a:solidFill>
          <a:uFillTx/>
          <a:latin typeface="+mn-lt"/>
          <a:ea typeface="+mn-ea"/>
          <a:cs typeface="+mn-cs"/>
          <a:sym typeface="Helvetica Neue"/>
        </a:defRPr>
      </a:lvl1pPr>
      <a:lvl2pPr marL="0" marR="0" indent="457200" algn="l" defTabSz="2438400" rtl="0" latinLnBrk="0">
        <a:lnSpc>
          <a:spcPct val="80000"/>
        </a:lnSpc>
        <a:spcBef>
          <a:spcPts val="0"/>
        </a:spcBef>
        <a:spcAft>
          <a:spcPts val="0"/>
        </a:spcAft>
        <a:buClrTx/>
        <a:buSzTx/>
        <a:buFontTx/>
        <a:buNone/>
        <a:defRPr sz="8500" b="1" i="0" u="none" strike="noStrike" cap="none" spc="-170" baseline="0">
          <a:solidFill>
            <a:srgbClr val="000000"/>
          </a:solidFill>
          <a:uFillTx/>
          <a:latin typeface="+mn-lt"/>
          <a:ea typeface="+mn-ea"/>
          <a:cs typeface="+mn-cs"/>
          <a:sym typeface="Helvetica Neue"/>
        </a:defRPr>
      </a:lvl2pPr>
      <a:lvl3pPr marL="0" marR="0" indent="914400" algn="l" defTabSz="2438400" rtl="0" latinLnBrk="0">
        <a:lnSpc>
          <a:spcPct val="80000"/>
        </a:lnSpc>
        <a:spcBef>
          <a:spcPts val="0"/>
        </a:spcBef>
        <a:spcAft>
          <a:spcPts val="0"/>
        </a:spcAft>
        <a:buClrTx/>
        <a:buSzTx/>
        <a:buFontTx/>
        <a:buNone/>
        <a:defRPr sz="8500" b="1" i="0" u="none" strike="noStrike" cap="none" spc="-170" baseline="0">
          <a:solidFill>
            <a:srgbClr val="000000"/>
          </a:solidFill>
          <a:uFillTx/>
          <a:latin typeface="+mn-lt"/>
          <a:ea typeface="+mn-ea"/>
          <a:cs typeface="+mn-cs"/>
          <a:sym typeface="Helvetica Neue"/>
        </a:defRPr>
      </a:lvl3pPr>
      <a:lvl4pPr marL="0" marR="0" indent="1371600" algn="l" defTabSz="2438400" rtl="0" latinLnBrk="0">
        <a:lnSpc>
          <a:spcPct val="80000"/>
        </a:lnSpc>
        <a:spcBef>
          <a:spcPts val="0"/>
        </a:spcBef>
        <a:spcAft>
          <a:spcPts val="0"/>
        </a:spcAft>
        <a:buClrTx/>
        <a:buSzTx/>
        <a:buFontTx/>
        <a:buNone/>
        <a:defRPr sz="8500" b="1" i="0" u="none" strike="noStrike" cap="none" spc="-170" baseline="0">
          <a:solidFill>
            <a:srgbClr val="000000"/>
          </a:solidFill>
          <a:uFillTx/>
          <a:latin typeface="+mn-lt"/>
          <a:ea typeface="+mn-ea"/>
          <a:cs typeface="+mn-cs"/>
          <a:sym typeface="Helvetica Neue"/>
        </a:defRPr>
      </a:lvl4pPr>
      <a:lvl5pPr marL="0" marR="0" indent="1828800" algn="l" defTabSz="2438400" rtl="0" latinLnBrk="0">
        <a:lnSpc>
          <a:spcPct val="80000"/>
        </a:lnSpc>
        <a:spcBef>
          <a:spcPts val="0"/>
        </a:spcBef>
        <a:spcAft>
          <a:spcPts val="0"/>
        </a:spcAft>
        <a:buClrTx/>
        <a:buSzTx/>
        <a:buFontTx/>
        <a:buNone/>
        <a:defRPr sz="8500" b="1" i="0" u="none" strike="noStrike" cap="none" spc="-170" baseline="0">
          <a:solidFill>
            <a:srgbClr val="000000"/>
          </a:solidFill>
          <a:uFillTx/>
          <a:latin typeface="+mn-lt"/>
          <a:ea typeface="+mn-ea"/>
          <a:cs typeface="+mn-cs"/>
          <a:sym typeface="Helvetica Neue"/>
        </a:defRPr>
      </a:lvl5pPr>
      <a:lvl6pPr marL="0" marR="0" indent="2286000" algn="l" defTabSz="2438400" rtl="0" latinLnBrk="0">
        <a:lnSpc>
          <a:spcPct val="80000"/>
        </a:lnSpc>
        <a:spcBef>
          <a:spcPts val="0"/>
        </a:spcBef>
        <a:spcAft>
          <a:spcPts val="0"/>
        </a:spcAft>
        <a:buClrTx/>
        <a:buSzTx/>
        <a:buFontTx/>
        <a:buNone/>
        <a:defRPr sz="8500" b="1" i="0" u="none" strike="noStrike" cap="none" spc="-170" baseline="0">
          <a:solidFill>
            <a:srgbClr val="000000"/>
          </a:solidFill>
          <a:uFillTx/>
          <a:latin typeface="+mn-lt"/>
          <a:ea typeface="+mn-ea"/>
          <a:cs typeface="+mn-cs"/>
          <a:sym typeface="Helvetica Neue"/>
        </a:defRPr>
      </a:lvl6pPr>
      <a:lvl7pPr marL="0" marR="0" indent="2743200" algn="l" defTabSz="2438400" rtl="0" latinLnBrk="0">
        <a:lnSpc>
          <a:spcPct val="80000"/>
        </a:lnSpc>
        <a:spcBef>
          <a:spcPts val="0"/>
        </a:spcBef>
        <a:spcAft>
          <a:spcPts val="0"/>
        </a:spcAft>
        <a:buClrTx/>
        <a:buSzTx/>
        <a:buFontTx/>
        <a:buNone/>
        <a:defRPr sz="8500" b="1" i="0" u="none" strike="noStrike" cap="none" spc="-170" baseline="0">
          <a:solidFill>
            <a:srgbClr val="000000"/>
          </a:solidFill>
          <a:uFillTx/>
          <a:latin typeface="+mn-lt"/>
          <a:ea typeface="+mn-ea"/>
          <a:cs typeface="+mn-cs"/>
          <a:sym typeface="Helvetica Neue"/>
        </a:defRPr>
      </a:lvl7pPr>
      <a:lvl8pPr marL="0" marR="0" indent="3200400" algn="l" defTabSz="2438400" rtl="0" latinLnBrk="0">
        <a:lnSpc>
          <a:spcPct val="80000"/>
        </a:lnSpc>
        <a:spcBef>
          <a:spcPts val="0"/>
        </a:spcBef>
        <a:spcAft>
          <a:spcPts val="0"/>
        </a:spcAft>
        <a:buClrTx/>
        <a:buSzTx/>
        <a:buFontTx/>
        <a:buNone/>
        <a:defRPr sz="8500" b="1" i="0" u="none" strike="noStrike" cap="none" spc="-170" baseline="0">
          <a:solidFill>
            <a:srgbClr val="000000"/>
          </a:solidFill>
          <a:uFillTx/>
          <a:latin typeface="+mn-lt"/>
          <a:ea typeface="+mn-ea"/>
          <a:cs typeface="+mn-cs"/>
          <a:sym typeface="Helvetica Neue"/>
        </a:defRPr>
      </a:lvl8pPr>
      <a:lvl9pPr marL="0" marR="0" indent="3657600" algn="l" defTabSz="2438400" rtl="0" latinLnBrk="0">
        <a:lnSpc>
          <a:spcPct val="80000"/>
        </a:lnSpc>
        <a:spcBef>
          <a:spcPts val="0"/>
        </a:spcBef>
        <a:spcAft>
          <a:spcPts val="0"/>
        </a:spcAft>
        <a:buClrTx/>
        <a:buSzTx/>
        <a:buFontTx/>
        <a:buNone/>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400" rtl="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mn-lt"/>
          <a:ea typeface="+mn-ea"/>
          <a:cs typeface="+mn-cs"/>
          <a:sym typeface="Helvetica Neue"/>
        </a:defRPr>
      </a:lvl1pPr>
      <a:lvl2pPr marL="1219200" marR="0" indent="-609600" algn="l" defTabSz="2438400" rtl="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mn-lt"/>
          <a:ea typeface="+mn-ea"/>
          <a:cs typeface="+mn-cs"/>
          <a:sym typeface="Helvetica Neue"/>
        </a:defRPr>
      </a:lvl2pPr>
      <a:lvl3pPr marL="1828800" marR="0" indent="-609600" algn="l" defTabSz="2438400" rtl="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mn-lt"/>
          <a:ea typeface="+mn-ea"/>
          <a:cs typeface="+mn-cs"/>
          <a:sym typeface="Helvetica Neue"/>
        </a:defRPr>
      </a:lvl3pPr>
      <a:lvl4pPr marL="2438400" marR="0" indent="-609600" algn="l" defTabSz="2438400" rtl="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mn-lt"/>
          <a:ea typeface="+mn-ea"/>
          <a:cs typeface="+mn-cs"/>
          <a:sym typeface="Helvetica Neue"/>
        </a:defRPr>
      </a:lvl4pPr>
      <a:lvl5pPr marL="3048000" marR="0" indent="-609600" algn="l" defTabSz="2438400" rtl="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mn-lt"/>
          <a:ea typeface="+mn-ea"/>
          <a:cs typeface="+mn-cs"/>
          <a:sym typeface="Helvetica Neue"/>
        </a:defRPr>
      </a:lvl5pPr>
      <a:lvl6pPr marL="3657600" marR="0" indent="-609600" algn="l" defTabSz="2438400" rtl="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mn-lt"/>
          <a:ea typeface="+mn-ea"/>
          <a:cs typeface="+mn-cs"/>
          <a:sym typeface="Helvetica Neue"/>
        </a:defRPr>
      </a:lvl6pPr>
      <a:lvl7pPr marL="4267200" marR="0" indent="-609600" algn="l" defTabSz="2438400" rtl="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mn-lt"/>
          <a:ea typeface="+mn-ea"/>
          <a:cs typeface="+mn-cs"/>
          <a:sym typeface="Helvetica Neue"/>
        </a:defRPr>
      </a:lvl7pPr>
      <a:lvl8pPr marL="4876800" marR="0" indent="-609600" algn="l" defTabSz="2438400" rtl="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mn-lt"/>
          <a:ea typeface="+mn-ea"/>
          <a:cs typeface="+mn-cs"/>
          <a:sym typeface="Helvetica Neue"/>
        </a:defRPr>
      </a:lvl8pPr>
      <a:lvl9pPr marL="5486400" marR="0" indent="-609600" algn="l" defTabSz="2438400" rtl="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6.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基于AI的智能代码审查系统设计开题报告"/>
          <p:cNvSpPr txBox="1"/>
          <p:nvPr>
            <p:ph type="ctrTitle"/>
          </p:nvPr>
        </p:nvSpPr>
        <p:spPr>
          <a:xfrm>
            <a:off x="1574904" y="391433"/>
            <a:ext cx="19356621" cy="2657395"/>
          </a:xfrm>
          <a:prstGeom prst="rect">
            <a:avLst/>
          </a:prstGeom>
        </p:spPr>
        <p:txBody>
          <a:bodyPr/>
          <a:lstStyle>
            <a:lvl1pPr defTabSz="914400">
              <a:lnSpc>
                <a:spcPts val="10800"/>
              </a:lnSpc>
              <a:defRPr sz="5800" spc="0">
                <a:solidFill>
                  <a:srgbClr val="375A7F"/>
                </a:solidFill>
                <a:latin typeface="Raleway"/>
                <a:ea typeface="Raleway"/>
                <a:cs typeface="Raleway"/>
                <a:sym typeface="Raleway"/>
              </a:defRPr>
            </a:lvl1pPr>
          </a:lstStyle>
          <a:p>
            <a:r>
              <a:t>基于AI的智能代码审查系统设计开题报告</a:t>
            </a:r>
          </a:p>
        </p:txBody>
      </p:sp>
      <p:sp>
        <p:nvSpPr>
          <p:cNvPr id="172" name="工程实践第9组…"/>
          <p:cNvSpPr txBox="1"/>
          <p:nvPr>
            <p:ph type="body" idx="21"/>
          </p:nvPr>
        </p:nvSpPr>
        <p:spPr>
          <a:xfrm>
            <a:off x="1805162" y="6679126"/>
            <a:ext cx="21971002" cy="5802246"/>
          </a:xfrm>
          <a:prstGeom prst="rect">
            <a:avLst/>
          </a:prstGeom>
        </p:spPr>
        <p:txBody>
          <a:bodyPr/>
          <a:lstStyle/>
          <a:p>
            <a:pPr defTabSz="825500">
              <a:defRPr sz="3600" b="0"/>
            </a:pPr>
            <a:r>
              <a:t>工程实践第9组</a:t>
            </a:r>
          </a:p>
          <a:p>
            <a:pPr defTabSz="825500">
              <a:defRPr sz="3600" b="0"/>
            </a:pPr>
          </a:p>
          <a:p>
            <a:pPr defTabSz="825500">
              <a:defRPr sz="3600" b="0"/>
            </a:pPr>
            <a:r>
              <a:t>组员：李森  陈俊威  李睿  代熙铭</a:t>
            </a:r>
          </a:p>
          <a:p>
            <a:pPr defTabSz="825500">
              <a:defRPr sz="3600" b="0"/>
            </a:pPr>
          </a:p>
          <a:p>
            <a:pPr defTabSz="825500">
              <a:defRPr sz="3600" b="0"/>
            </a:pPr>
            <a:r>
              <a:t>指导老师：翟建芳</a:t>
            </a:r>
          </a:p>
          <a:p>
            <a:pPr defTabSz="825500">
              <a:defRPr sz="3600" b="0"/>
            </a:pPr>
          </a:p>
          <a:p>
            <a:pPr defTabSz="825500">
              <a:defRPr sz="3600" b="0"/>
            </a:pPr>
            <a:r>
              <a:t>2025年10月29日</a:t>
            </a:r>
          </a:p>
          <a:p>
            <a:pPr defTabSz="825500">
              <a:defRPr sz="3600" b="0"/>
            </a:pPr>
          </a:p>
        </p:txBody>
      </p:sp>
      <p:sp>
        <p:nvSpPr>
          <p:cNvPr id="173" name="线条"/>
          <p:cNvSpPr/>
          <p:nvPr/>
        </p:nvSpPr>
        <p:spPr>
          <a:xfrm>
            <a:off x="787556" y="3691634"/>
            <a:ext cx="13473731" cy="1"/>
          </a:xfrm>
          <a:prstGeom prst="line">
            <a:avLst/>
          </a:prstGeom>
          <a:ln w="25400">
            <a:solidFill>
              <a:srgbClr val="000000"/>
            </a:solidFill>
            <a:miter lim="400000"/>
          </a:ln>
        </p:spPr>
        <p:txBody>
          <a:bodyPr lIns="45719" rIns="45719"/>
          <a:lstStyle/>
          <a:p>
            <a:pPr defTabSz="914400">
              <a:lnSpc>
                <a:spcPct val="100000"/>
              </a:lnSpc>
              <a:spcBef>
                <a:spcPts val="0"/>
              </a:spcBef>
              <a:defRPr sz="1800">
                <a:latin typeface="Calibri" panose="020F0502020204030204"/>
                <a:ea typeface="Calibri" panose="020F0502020204030204"/>
                <a:cs typeface="Calibri" panose="020F0502020204030204"/>
                <a:sym typeface="Calibri" panose="020F0502020204030204"/>
              </a:defRPr>
            </a:pPr>
          </a:p>
        </p:txBody>
      </p:sp>
      <p:sp>
        <p:nvSpPr>
          <p:cNvPr id="174" name="TextBox 9"/>
          <p:cNvSpPr txBox="1"/>
          <p:nvPr/>
        </p:nvSpPr>
        <p:spPr>
          <a:xfrm>
            <a:off x="23325428" y="12536999"/>
            <a:ext cx="196343" cy="455247"/>
          </a:xfrm>
          <a:prstGeom prst="rect">
            <a:avLst/>
          </a:prstGeom>
          <a:ln w="12700">
            <a:miter lim="400000"/>
          </a:ln>
        </p:spPr>
        <p:txBody>
          <a:bodyPr wrap="none" lIns="0" tIns="0" rIns="0" bIns="0">
            <a:spAutoFit/>
          </a:bodyPr>
          <a:lstStyle>
            <a:lvl1pPr algn="r" defTabSz="1219200">
              <a:lnSpc>
                <a:spcPts val="3700"/>
              </a:lnSpc>
              <a:spcBef>
                <a:spcPts val="0"/>
              </a:spcBef>
              <a:defRPr sz="2600">
                <a:solidFill>
                  <a:srgbClr val="333333"/>
                </a:solidFill>
                <a:latin typeface="Raleway"/>
                <a:ea typeface="Raleway"/>
                <a:cs typeface="Raleway"/>
                <a:sym typeface="Raleway"/>
              </a:defRPr>
            </a:lvl1pPr>
          </a:lstStyle>
          <a:p>
            <a:r>
              <a:t>1</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176" name="TextBox 9"/>
          <p:cNvSpPr txBox="1"/>
          <p:nvPr/>
        </p:nvSpPr>
        <p:spPr>
          <a:xfrm>
            <a:off x="23325429" y="12536999"/>
            <a:ext cx="196342" cy="455247"/>
          </a:xfrm>
          <a:prstGeom prst="rect">
            <a:avLst/>
          </a:prstGeom>
          <a:ln w="12700">
            <a:miter lim="400000"/>
          </a:ln>
        </p:spPr>
        <p:txBody>
          <a:bodyPr wrap="none" lIns="0" tIns="0" rIns="0" bIns="0">
            <a:spAutoFit/>
          </a:bodyPr>
          <a:lstStyle>
            <a:lvl1pPr algn="r" defTabSz="1219200">
              <a:lnSpc>
                <a:spcPts val="3700"/>
              </a:lnSpc>
              <a:spcBef>
                <a:spcPts val="0"/>
              </a:spcBef>
              <a:defRPr sz="2600">
                <a:solidFill>
                  <a:srgbClr val="333333"/>
                </a:solidFill>
                <a:latin typeface="Raleway"/>
                <a:ea typeface="Raleway"/>
                <a:cs typeface="Raleway"/>
                <a:sym typeface="Raleway"/>
              </a:defRPr>
            </a:lvl1pPr>
          </a:lstStyle>
          <a:p>
            <a:r>
              <a:t>2</a:t>
            </a:r>
          </a:p>
        </p:txBody>
      </p:sp>
      <p:sp>
        <p:nvSpPr>
          <p:cNvPr id="177" name="AutoShape 10"/>
          <p:cNvSpPr/>
          <p:nvPr/>
        </p:nvSpPr>
        <p:spPr>
          <a:xfrm>
            <a:off x="1908938" y="12814300"/>
            <a:ext cx="20832615" cy="1"/>
          </a:xfrm>
          <a:prstGeom prst="line">
            <a:avLst/>
          </a:prstGeom>
          <a:ln w="25400">
            <a:solidFill>
              <a:srgbClr val="375A7F"/>
            </a:solidFill>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
        <p:nvSpPr>
          <p:cNvPr id="178" name="Freeform 11"/>
          <p:cNvSpPr/>
          <p:nvPr/>
        </p:nvSpPr>
        <p:spPr>
          <a:xfrm>
            <a:off x="895349" y="12517179"/>
            <a:ext cx="594245" cy="594243"/>
          </a:xfrm>
          <a:prstGeom prst="rect">
            <a:avLst/>
          </a:prstGeom>
          <a:blipFill>
            <a:blip r:embed="rId1"/>
            <a:stretch>
              <a:fillRect/>
            </a:stretch>
          </a:blipFill>
          <a:ln w="12700">
            <a:miter lim="400000"/>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
        <p:nvSpPr>
          <p:cNvPr id="179" name="TABLE OF CONTENTS"/>
          <p:cNvSpPr txBox="1"/>
          <p:nvPr/>
        </p:nvSpPr>
        <p:spPr>
          <a:xfrm>
            <a:off x="1479325" y="1248728"/>
            <a:ext cx="5704840" cy="1289685"/>
          </a:xfrm>
          <a:prstGeom prst="rect">
            <a:avLst/>
          </a:prstGeom>
          <a:ln w="12700">
            <a:miter lim="400000"/>
          </a:ln>
        </p:spPr>
        <p:txBody>
          <a:bodyPr wrap="none" lIns="60959" tIns="60959" rIns="60959" bIns="60959">
            <a:spAutoFit/>
          </a:bodyPr>
          <a:lstStyle>
            <a:lvl1pPr defTabSz="1219200">
              <a:lnSpc>
                <a:spcPct val="100000"/>
              </a:lnSpc>
              <a:spcBef>
                <a:spcPts val="0"/>
              </a:spcBef>
              <a:defRPr sz="7600">
                <a:latin typeface="배달의민족 연성 OTF"/>
                <a:ea typeface="배달의민족 연성 OTF"/>
                <a:cs typeface="배달의민족 연성 OTF"/>
                <a:sym typeface="배달의민족 연성 OTF"/>
              </a:defRPr>
            </a:lvl1pPr>
          </a:lstStyle>
          <a:p>
            <a:r>
              <a:t>CONTENT</a:t>
            </a:r>
            <a:r>
              <a:rPr lang="en-US"/>
              <a:t>S</a:t>
            </a:r>
            <a:endParaRPr lang="en-US"/>
          </a:p>
        </p:txBody>
      </p:sp>
      <p:sp>
        <p:nvSpPr>
          <p:cNvPr id="180" name="线条"/>
          <p:cNvSpPr/>
          <p:nvPr/>
        </p:nvSpPr>
        <p:spPr>
          <a:xfrm>
            <a:off x="865871" y="2619629"/>
            <a:ext cx="17964973" cy="1"/>
          </a:xfrm>
          <a:prstGeom prst="line">
            <a:avLst/>
          </a:prstGeom>
          <a:ln w="25400">
            <a:solidFill>
              <a:srgbClr val="000000"/>
            </a:solidFill>
            <a:miter lim="400000"/>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
        <p:nvSpPr>
          <p:cNvPr id="181" name="选题背景与意义…"/>
          <p:cNvSpPr txBox="1"/>
          <p:nvPr/>
        </p:nvSpPr>
        <p:spPr>
          <a:xfrm>
            <a:off x="1983727" y="3651829"/>
            <a:ext cx="5510530" cy="8266430"/>
          </a:xfrm>
          <a:prstGeom prst="rect">
            <a:avLst/>
          </a:prstGeom>
          <a:ln w="12700">
            <a:miter lim="400000"/>
          </a:ln>
        </p:spPr>
        <p:txBody>
          <a:bodyPr wrap="none" lIns="60959" tIns="60959" rIns="60959" bIns="60959">
            <a:spAutoFit/>
          </a:bodyPr>
          <a:lstStyle/>
          <a:p>
            <a:pPr marL="360680" indent="-360680" defTabSz="609600">
              <a:lnSpc>
                <a:spcPct val="100000"/>
              </a:lnSpc>
              <a:spcBef>
                <a:spcPts val="1600"/>
              </a:spcBef>
              <a:buSzPct val="100000"/>
              <a:buChar char="•"/>
              <a:defRPr sz="3600">
                <a:solidFill>
                  <a:srgbClr val="242424"/>
                </a:solidFill>
                <a:latin typeface="Times Roman"/>
                <a:ea typeface="Times Roman"/>
                <a:cs typeface="Times Roman"/>
                <a:sym typeface="Times Roman"/>
              </a:defRPr>
            </a:pPr>
            <a:r>
              <a:t>选题背景与意义</a:t>
            </a:r>
          </a:p>
          <a:p>
            <a:pPr marL="360680" indent="-360680" defTabSz="609600">
              <a:lnSpc>
                <a:spcPct val="100000"/>
              </a:lnSpc>
              <a:spcBef>
                <a:spcPts val="1600"/>
              </a:spcBef>
              <a:buSzPct val="100000"/>
              <a:buChar char="•"/>
              <a:defRPr sz="3600">
                <a:solidFill>
                  <a:srgbClr val="242424"/>
                </a:solidFill>
                <a:latin typeface="Times Roman"/>
                <a:ea typeface="Times Roman"/>
                <a:cs typeface="Times Roman"/>
                <a:sym typeface="Times Roman"/>
              </a:defRPr>
            </a:pPr>
          </a:p>
          <a:p>
            <a:pPr marL="360680" indent="-360680" defTabSz="609600">
              <a:lnSpc>
                <a:spcPct val="100000"/>
              </a:lnSpc>
              <a:spcBef>
                <a:spcPts val="1600"/>
              </a:spcBef>
              <a:buSzPct val="100000"/>
              <a:buChar char="•"/>
              <a:defRPr sz="3600">
                <a:solidFill>
                  <a:srgbClr val="242424"/>
                </a:solidFill>
                <a:latin typeface="Times Roman"/>
                <a:ea typeface="Times Roman"/>
                <a:cs typeface="Times Roman"/>
                <a:sym typeface="Times Roman"/>
              </a:defRPr>
            </a:pPr>
            <a:r>
              <a:t>国内外同类项目调研分析</a:t>
            </a:r>
            <a:endParaRPr>
              <a:solidFill>
                <a:srgbClr val="000000"/>
              </a:solidFill>
            </a:endParaRPr>
          </a:p>
          <a:p>
            <a:pPr marL="360680" indent="-360680" defTabSz="609600">
              <a:lnSpc>
                <a:spcPct val="100000"/>
              </a:lnSpc>
              <a:spcBef>
                <a:spcPts val="1600"/>
              </a:spcBef>
              <a:buSzPct val="100000"/>
              <a:buChar char="•"/>
              <a:defRPr sz="3600">
                <a:solidFill>
                  <a:srgbClr val="242424"/>
                </a:solidFill>
                <a:latin typeface="Times Roman"/>
                <a:ea typeface="Times Roman"/>
                <a:cs typeface="Times Roman"/>
                <a:sym typeface="Times Roman"/>
              </a:defRPr>
            </a:pPr>
            <a:endParaRPr>
              <a:solidFill>
                <a:srgbClr val="000000"/>
              </a:solidFill>
            </a:endParaRPr>
          </a:p>
          <a:p>
            <a:pPr marL="360680" indent="-360680" defTabSz="609600">
              <a:lnSpc>
                <a:spcPct val="100000"/>
              </a:lnSpc>
              <a:spcBef>
                <a:spcPts val="1600"/>
              </a:spcBef>
              <a:buSzPct val="100000"/>
              <a:buChar char="•"/>
              <a:defRPr sz="3600">
                <a:solidFill>
                  <a:srgbClr val="242424"/>
                </a:solidFill>
                <a:latin typeface="Times Roman"/>
                <a:ea typeface="Times Roman"/>
                <a:cs typeface="Times Roman"/>
                <a:sym typeface="Times Roman"/>
              </a:defRPr>
            </a:pPr>
            <a:r>
              <a:rPr>
                <a:solidFill>
                  <a:schemeClr val="tx1"/>
                </a:solidFill>
              </a:rPr>
              <a:t>需求</a:t>
            </a:r>
            <a:r>
              <a:rPr lang="zh-CN">
                <a:solidFill>
                  <a:schemeClr val="tx1"/>
                </a:solidFill>
                <a:ea typeface="宋体" panose="02010600030101010101" pitchFamily="2" charset="-122"/>
              </a:rPr>
              <a:t>分析与功能设计</a:t>
            </a:r>
            <a:endParaRPr lang="zh-CN">
              <a:solidFill>
                <a:schemeClr val="tx1"/>
              </a:solidFill>
              <a:ea typeface="宋体" panose="02010600030101010101" pitchFamily="2" charset="-122"/>
            </a:endParaRPr>
          </a:p>
          <a:p>
            <a:pPr marL="360680" indent="-360680" defTabSz="609600">
              <a:lnSpc>
                <a:spcPct val="100000"/>
              </a:lnSpc>
              <a:spcBef>
                <a:spcPts val="1600"/>
              </a:spcBef>
              <a:buSzPct val="100000"/>
              <a:buChar char="•"/>
              <a:defRPr sz="3600">
                <a:solidFill>
                  <a:srgbClr val="242424"/>
                </a:solidFill>
                <a:latin typeface="Times Roman"/>
                <a:ea typeface="Times Roman"/>
                <a:cs typeface="Times Roman"/>
                <a:sym typeface="Times Roman"/>
              </a:defRPr>
            </a:pPr>
            <a:endParaRPr>
              <a:solidFill>
                <a:schemeClr val="tx1"/>
              </a:solidFill>
            </a:endParaRPr>
          </a:p>
          <a:p>
            <a:pPr marL="360680" indent="-360680" defTabSz="609600">
              <a:lnSpc>
                <a:spcPct val="100000"/>
              </a:lnSpc>
              <a:spcBef>
                <a:spcPts val="1600"/>
              </a:spcBef>
              <a:buSzPct val="100000"/>
              <a:buChar char="•"/>
              <a:defRPr sz="3600">
                <a:solidFill>
                  <a:srgbClr val="242424"/>
                </a:solidFill>
                <a:latin typeface="Times Roman"/>
                <a:ea typeface="Times Roman"/>
                <a:cs typeface="Times Roman"/>
                <a:sym typeface="Times Roman"/>
              </a:defRPr>
            </a:pPr>
            <a:r>
              <a:rPr>
                <a:solidFill>
                  <a:schemeClr val="tx1"/>
                </a:solidFill>
              </a:rPr>
              <a:t>研究方法与技术</a:t>
            </a:r>
            <a:r>
              <a:rPr lang="zh-CN">
                <a:solidFill>
                  <a:schemeClr val="tx1"/>
                </a:solidFill>
                <a:ea typeface="宋体" panose="02010600030101010101" pitchFamily="2" charset="-122"/>
              </a:rPr>
              <a:t>选型</a:t>
            </a:r>
            <a:endParaRPr>
              <a:solidFill>
                <a:schemeClr val="tx1"/>
              </a:solidFill>
            </a:endParaRPr>
          </a:p>
          <a:p>
            <a:pPr marL="360680" indent="-360680" defTabSz="609600">
              <a:lnSpc>
                <a:spcPct val="100000"/>
              </a:lnSpc>
              <a:spcBef>
                <a:spcPts val="1600"/>
              </a:spcBef>
              <a:buSzPct val="100000"/>
              <a:buChar char="•"/>
              <a:defRPr sz="3600">
                <a:solidFill>
                  <a:srgbClr val="242424"/>
                </a:solidFill>
                <a:latin typeface="Times Roman"/>
                <a:ea typeface="Times Roman"/>
                <a:cs typeface="Times Roman"/>
                <a:sym typeface="Times Roman"/>
              </a:defRPr>
            </a:pPr>
            <a:endParaRPr>
              <a:solidFill>
                <a:schemeClr val="tx1"/>
              </a:solidFill>
            </a:endParaRPr>
          </a:p>
          <a:p>
            <a:pPr marL="360680" indent="-360680" defTabSz="609600">
              <a:lnSpc>
                <a:spcPct val="100000"/>
              </a:lnSpc>
              <a:spcBef>
                <a:spcPts val="1600"/>
              </a:spcBef>
              <a:buSzPct val="100000"/>
              <a:buChar char="•"/>
              <a:defRPr sz="3600">
                <a:solidFill>
                  <a:srgbClr val="242424"/>
                </a:solidFill>
                <a:latin typeface="Times Roman"/>
                <a:ea typeface="Times Roman"/>
                <a:cs typeface="Times Roman"/>
                <a:sym typeface="Times Roman"/>
              </a:defRPr>
            </a:pPr>
            <a:r>
              <a:rPr lang="zh-CN">
                <a:solidFill>
                  <a:schemeClr val="tx1"/>
                </a:solidFill>
                <a:ea typeface="宋体" panose="02010600030101010101" pitchFamily="2" charset="-122"/>
              </a:rPr>
              <a:t>时间</a:t>
            </a:r>
            <a:r>
              <a:rPr>
                <a:solidFill>
                  <a:schemeClr val="tx1"/>
                </a:solidFill>
              </a:rPr>
              <a:t>安排</a:t>
            </a:r>
            <a:r>
              <a:rPr lang="zh-CN">
                <a:solidFill>
                  <a:schemeClr val="tx1"/>
                </a:solidFill>
                <a:ea typeface="宋体" panose="02010600030101010101" pitchFamily="2" charset="-122"/>
              </a:rPr>
              <a:t>与组员分工</a:t>
            </a:r>
            <a:endParaRPr>
              <a:solidFill>
                <a:schemeClr val="tx1"/>
              </a:solidFill>
            </a:endParaRPr>
          </a:p>
          <a:p>
            <a:pPr marL="360680" indent="-360680" defTabSz="609600">
              <a:lnSpc>
                <a:spcPct val="100000"/>
              </a:lnSpc>
              <a:spcBef>
                <a:spcPts val="1600"/>
              </a:spcBef>
              <a:buSzPct val="100000"/>
              <a:buChar char="•"/>
              <a:defRPr sz="3600">
                <a:solidFill>
                  <a:srgbClr val="242424"/>
                </a:solidFill>
                <a:latin typeface="Times Roman"/>
                <a:ea typeface="Times Roman"/>
                <a:cs typeface="Times Roman"/>
                <a:sym typeface="Times Roman"/>
              </a:defRPr>
            </a:pPr>
            <a:endParaRPr>
              <a:solidFill>
                <a:srgbClr val="000000"/>
              </a:solidFill>
            </a:endParaRPr>
          </a:p>
          <a:p>
            <a:pPr marL="360680" indent="-360680" defTabSz="609600">
              <a:lnSpc>
                <a:spcPct val="100000"/>
              </a:lnSpc>
              <a:spcBef>
                <a:spcPts val="1600"/>
              </a:spcBef>
              <a:buSzPct val="100000"/>
              <a:buChar char="•"/>
              <a:defRPr sz="3600">
                <a:solidFill>
                  <a:srgbClr val="242424"/>
                </a:solidFill>
                <a:latin typeface="Times Roman"/>
                <a:ea typeface="Times Roman"/>
                <a:cs typeface="Times Roman"/>
                <a:sym typeface="Times Roman"/>
              </a:defRPr>
            </a:pPr>
            <a:endParaRPr>
              <a:solidFill>
                <a:srgbClr val="000000"/>
              </a:solidFill>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183" name="TextBox 2"/>
          <p:cNvSpPr txBox="1"/>
          <p:nvPr/>
        </p:nvSpPr>
        <p:spPr>
          <a:xfrm>
            <a:off x="23320650" y="12549699"/>
            <a:ext cx="196342" cy="455247"/>
          </a:xfrm>
          <a:prstGeom prst="rect">
            <a:avLst/>
          </a:prstGeom>
          <a:ln w="12700">
            <a:miter lim="400000"/>
          </a:ln>
        </p:spPr>
        <p:txBody>
          <a:bodyPr wrap="none" lIns="0" tIns="0" rIns="0" bIns="0">
            <a:spAutoFit/>
          </a:bodyPr>
          <a:lstStyle>
            <a:lvl1pPr algn="r" defTabSz="1219200">
              <a:lnSpc>
                <a:spcPts val="3700"/>
              </a:lnSpc>
              <a:spcBef>
                <a:spcPts val="0"/>
              </a:spcBef>
              <a:defRPr sz="2600">
                <a:solidFill>
                  <a:srgbClr val="333333"/>
                </a:solidFill>
                <a:latin typeface="Raleway"/>
                <a:ea typeface="Raleway"/>
                <a:cs typeface="Raleway"/>
                <a:sym typeface="Raleway"/>
              </a:defRPr>
            </a:lvl1pPr>
          </a:lstStyle>
          <a:p>
            <a:r>
              <a:t>3</a:t>
            </a:r>
          </a:p>
        </p:txBody>
      </p:sp>
      <p:sp>
        <p:nvSpPr>
          <p:cNvPr id="184" name="AutoShape 3"/>
          <p:cNvSpPr/>
          <p:nvPr/>
        </p:nvSpPr>
        <p:spPr>
          <a:xfrm>
            <a:off x="1908938" y="12814300"/>
            <a:ext cx="20832615" cy="1"/>
          </a:xfrm>
          <a:prstGeom prst="line">
            <a:avLst/>
          </a:prstGeom>
          <a:ln w="25400">
            <a:solidFill>
              <a:srgbClr val="375A7F"/>
            </a:solidFill>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
        <p:nvSpPr>
          <p:cNvPr id="185" name="Freeform 4"/>
          <p:cNvSpPr/>
          <p:nvPr/>
        </p:nvSpPr>
        <p:spPr>
          <a:xfrm>
            <a:off x="895349" y="12517179"/>
            <a:ext cx="594245" cy="594243"/>
          </a:xfrm>
          <a:prstGeom prst="rect">
            <a:avLst/>
          </a:prstGeom>
          <a:blipFill>
            <a:blip r:embed="rId1"/>
            <a:stretch>
              <a:fillRect/>
            </a:stretch>
          </a:blipFill>
          <a:ln w="12700">
            <a:miter lim="400000"/>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
        <p:nvSpPr>
          <p:cNvPr id="186" name="01 选题背景与意义"/>
          <p:cNvSpPr txBox="1"/>
          <p:nvPr/>
        </p:nvSpPr>
        <p:spPr>
          <a:xfrm>
            <a:off x="3134714" y="3895923"/>
            <a:ext cx="7678421" cy="2687321"/>
          </a:xfrm>
          <a:prstGeom prst="rect">
            <a:avLst/>
          </a:prstGeom>
          <a:ln w="12700">
            <a:miter lim="400000"/>
          </a:ln>
        </p:spPr>
        <p:txBody>
          <a:bodyPr wrap="none" lIns="60959" tIns="60959" rIns="60959" bIns="60959">
            <a:spAutoFit/>
          </a:bodyPr>
          <a:lstStyle>
            <a:lvl1pPr defTabSz="609600">
              <a:lnSpc>
                <a:spcPct val="100000"/>
              </a:lnSpc>
              <a:spcBef>
                <a:spcPts val="1600"/>
              </a:spcBef>
              <a:defRPr sz="7200" b="1">
                <a:solidFill>
                  <a:srgbClr val="242424"/>
                </a:solidFill>
                <a:latin typeface="Times Roman"/>
                <a:ea typeface="Times Roman"/>
                <a:cs typeface="Times Roman"/>
                <a:sym typeface="Times Roman"/>
              </a:defRPr>
            </a:lvl1pPr>
          </a:lstStyle>
          <a:p>
            <a:r>
              <a:t>01 选题背景与意义</a:t>
            </a:r>
            <a:endParaRPr b="0">
              <a:solidFill>
                <a:srgbClr val="000000"/>
              </a:solidFill>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188" name="AutoShape 2"/>
          <p:cNvSpPr/>
          <p:nvPr/>
        </p:nvSpPr>
        <p:spPr>
          <a:xfrm>
            <a:off x="1908938" y="12814300"/>
            <a:ext cx="20832615" cy="1"/>
          </a:xfrm>
          <a:prstGeom prst="line">
            <a:avLst/>
          </a:prstGeom>
          <a:ln w="25400">
            <a:solidFill>
              <a:srgbClr val="375A7F"/>
            </a:solidFill>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
        <p:nvSpPr>
          <p:cNvPr id="189" name="Freeform 3"/>
          <p:cNvSpPr/>
          <p:nvPr/>
        </p:nvSpPr>
        <p:spPr>
          <a:xfrm>
            <a:off x="895349" y="12517179"/>
            <a:ext cx="594245" cy="594243"/>
          </a:xfrm>
          <a:prstGeom prst="rect">
            <a:avLst/>
          </a:prstGeom>
          <a:blipFill>
            <a:blip r:embed="rId1"/>
            <a:stretch>
              <a:fillRect/>
            </a:stretch>
          </a:blipFill>
          <a:ln w="12700">
            <a:miter lim="400000"/>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
        <p:nvSpPr>
          <p:cNvPr id="190" name="TextBox 16"/>
          <p:cNvSpPr txBox="1"/>
          <p:nvPr/>
        </p:nvSpPr>
        <p:spPr>
          <a:xfrm>
            <a:off x="23149632" y="12549699"/>
            <a:ext cx="196342" cy="455247"/>
          </a:xfrm>
          <a:prstGeom prst="rect">
            <a:avLst/>
          </a:prstGeom>
          <a:ln w="12700">
            <a:miter lim="400000"/>
          </a:ln>
        </p:spPr>
        <p:txBody>
          <a:bodyPr wrap="none" lIns="0" tIns="0" rIns="0" bIns="0">
            <a:spAutoFit/>
          </a:bodyPr>
          <a:lstStyle>
            <a:lvl1pPr algn="r" defTabSz="1219200">
              <a:lnSpc>
                <a:spcPts val="3700"/>
              </a:lnSpc>
              <a:spcBef>
                <a:spcPts val="0"/>
              </a:spcBef>
              <a:defRPr sz="2600">
                <a:solidFill>
                  <a:srgbClr val="333333"/>
                </a:solidFill>
                <a:latin typeface="Raleway"/>
                <a:ea typeface="Raleway"/>
                <a:cs typeface="Raleway"/>
                <a:sym typeface="Raleway"/>
              </a:defRPr>
            </a:lvl1pPr>
          </a:lstStyle>
          <a:p>
            <a:r>
              <a:t>4</a:t>
            </a:r>
          </a:p>
        </p:txBody>
      </p:sp>
      <p:sp>
        <p:nvSpPr>
          <p:cNvPr id="191" name="传统代码审查的痛点与AI的崛起"/>
          <p:cNvSpPr txBox="1"/>
          <p:nvPr/>
        </p:nvSpPr>
        <p:spPr>
          <a:xfrm>
            <a:off x="1213122" y="907357"/>
            <a:ext cx="8736887" cy="1417321"/>
          </a:xfrm>
          <a:prstGeom prst="rect">
            <a:avLst/>
          </a:prstGeom>
          <a:ln w="12700">
            <a:miter lim="400000"/>
          </a:ln>
        </p:spPr>
        <p:txBody>
          <a:bodyPr wrap="none" lIns="60959" tIns="60959" rIns="60959" bIns="60959">
            <a:spAutoFit/>
          </a:bodyPr>
          <a:lstStyle>
            <a:lvl1pPr defTabSz="609600">
              <a:lnSpc>
                <a:spcPct val="100000"/>
              </a:lnSpc>
              <a:spcBef>
                <a:spcPts val="1600"/>
              </a:spcBef>
              <a:defRPr b="1">
                <a:solidFill>
                  <a:srgbClr val="242424"/>
                </a:solidFill>
                <a:latin typeface="Times Roman"/>
                <a:ea typeface="Times Roman"/>
                <a:cs typeface="Times Roman"/>
                <a:sym typeface="Times Roman"/>
              </a:defRPr>
            </a:lvl1pPr>
          </a:lstStyle>
          <a:p>
            <a:r>
              <a:t>传统代码审查的痛点与AI的崛起</a:t>
            </a:r>
            <a:endParaRPr sz="1600" b="0">
              <a:solidFill>
                <a:srgbClr val="000000"/>
              </a:solidFill>
            </a:endParaRPr>
          </a:p>
        </p:txBody>
      </p:sp>
      <p:sp>
        <p:nvSpPr>
          <p:cNvPr id="192" name="线条"/>
          <p:cNvSpPr/>
          <p:nvPr/>
        </p:nvSpPr>
        <p:spPr>
          <a:xfrm>
            <a:off x="865871" y="2619629"/>
            <a:ext cx="12117569" cy="1"/>
          </a:xfrm>
          <a:prstGeom prst="line">
            <a:avLst/>
          </a:prstGeom>
          <a:ln w="25400">
            <a:solidFill>
              <a:srgbClr val="000000"/>
            </a:solidFill>
            <a:miter lim="400000"/>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grpSp>
        <p:nvGrpSpPr>
          <p:cNvPr id="195" name="成组"/>
          <p:cNvGrpSpPr/>
          <p:nvPr/>
        </p:nvGrpSpPr>
        <p:grpSpPr>
          <a:xfrm>
            <a:off x="2770409" y="2914581"/>
            <a:ext cx="5622314" cy="9335044"/>
            <a:chOff x="0" y="0"/>
            <a:chExt cx="5622313" cy="9335042"/>
          </a:xfrm>
        </p:grpSpPr>
        <p:pic>
          <p:nvPicPr>
            <p:cNvPr id="193" name="已粘贴的影片.png" descr="已粘贴的影片.png"/>
            <p:cNvPicPr>
              <a:picLocks noChangeAspect="1"/>
            </p:cNvPicPr>
            <p:nvPr/>
          </p:nvPicPr>
          <p:blipFill>
            <a:blip r:embed="rId2"/>
            <a:stretch>
              <a:fillRect/>
            </a:stretch>
          </p:blipFill>
          <p:spPr>
            <a:xfrm>
              <a:off x="0" y="0"/>
              <a:ext cx="5622314" cy="8522243"/>
            </a:xfrm>
            <a:prstGeom prst="rect">
              <a:avLst/>
            </a:prstGeom>
            <a:ln w="12700" cap="flat">
              <a:noFill/>
              <a:miter lim="400000"/>
              <a:headEnd/>
              <a:tailEnd/>
            </a:ln>
            <a:effectLst/>
          </p:spPr>
        </p:pic>
        <p:sp>
          <p:nvSpPr>
            <p:cNvPr id="194" name="Caption"/>
            <p:cNvSpPr/>
            <p:nvPr/>
          </p:nvSpPr>
          <p:spPr>
            <a:xfrm>
              <a:off x="0" y="8623842"/>
              <a:ext cx="5622314" cy="711201"/>
            </a:xfrm>
            <a:prstGeom prst="roundRect">
              <a:avLst>
                <a:gd name="adj" fmla="val 0"/>
              </a:avLst>
            </a:prstGeom>
            <a:solidFill>
              <a:srgbClr val="000000">
                <a:alpha val="0"/>
              </a:srgbClr>
            </a:solidFill>
            <a:ln w="12700" cap="flat">
              <a:noFill/>
              <a:miter lim="400000"/>
            </a:ln>
            <a:effectLst/>
          </p:spPr>
          <p:txBody>
            <a:bodyPr wrap="square" lIns="50800" tIns="50800" rIns="50800" bIns="50800" numCol="1" anchor="t">
              <a:noAutofit/>
            </a:bodyPr>
            <a:lstStyle>
              <a:lvl1pPr algn="ctr">
                <a:lnSpc>
                  <a:spcPct val="100000"/>
                </a:lnSpc>
                <a:spcBef>
                  <a:spcPts val="0"/>
                </a:spcBef>
                <a:defRPr sz="3400">
                  <a:solidFill>
                    <a:srgbClr val="5E5E5E"/>
                  </a:solidFill>
                </a:defRPr>
              </a:lvl1pPr>
            </a:lstStyle>
            <a:p>
              <a:r>
                <a:t>传统代码审查工作流程</a:t>
              </a:r>
            </a:p>
          </p:txBody>
        </p:sp>
      </p:grpSp>
      <p:sp>
        <p:nvSpPr>
          <p:cNvPr id="196" name="效率瓶颈…"/>
          <p:cNvSpPr txBox="1"/>
          <p:nvPr/>
        </p:nvSpPr>
        <p:spPr>
          <a:xfrm>
            <a:off x="11343390" y="3909264"/>
            <a:ext cx="4686301" cy="6532879"/>
          </a:xfrm>
          <a:prstGeom prst="rect">
            <a:avLst/>
          </a:prstGeom>
          <a:ln w="12700">
            <a:miter lim="400000"/>
          </a:ln>
        </p:spPr>
        <p:txBody>
          <a:bodyPr wrap="none" lIns="50800" tIns="50800" rIns="50800" bIns="50800" anchor="ctr">
            <a:spAutoFit/>
          </a:bodyPr>
          <a:lstStyle/>
          <a:p>
            <a:pPr marL="508000" indent="-508000" defTabSz="1219200">
              <a:lnSpc>
                <a:spcPts val="5600"/>
              </a:lnSpc>
              <a:spcBef>
                <a:spcPts val="0"/>
              </a:spcBef>
              <a:buSzPct val="123000"/>
              <a:buChar char="•"/>
              <a:defRPr sz="4000" b="1">
                <a:solidFill>
                  <a:schemeClr val="accent5">
                    <a:hueOff val="-82419"/>
                    <a:satOff val="-9512"/>
                    <a:lumOff val="-16342"/>
                  </a:schemeClr>
                </a:solidFill>
                <a:latin typeface="Raleway Bold"/>
                <a:ea typeface="Raleway Bold"/>
                <a:cs typeface="Raleway Bold"/>
                <a:sym typeface="Raleway Bold"/>
              </a:defRPr>
            </a:pPr>
            <a:r>
              <a:t>效率瓶颈</a:t>
            </a:r>
          </a:p>
          <a:p>
            <a:pPr marL="508000" indent="-508000" defTabSz="1219200">
              <a:lnSpc>
                <a:spcPts val="5600"/>
              </a:lnSpc>
              <a:spcBef>
                <a:spcPts val="0"/>
              </a:spcBef>
              <a:buSzPct val="123000"/>
              <a:buChar char="•"/>
              <a:defRPr sz="4000" b="1">
                <a:solidFill>
                  <a:schemeClr val="accent5">
                    <a:hueOff val="-82419"/>
                    <a:satOff val="-9512"/>
                    <a:lumOff val="-16342"/>
                  </a:schemeClr>
                </a:solidFill>
                <a:latin typeface="Raleway Bold"/>
                <a:ea typeface="Raleway Bold"/>
                <a:cs typeface="Raleway Bold"/>
                <a:sym typeface="Raleway Bold"/>
              </a:defRPr>
            </a:pPr>
          </a:p>
          <a:p>
            <a:pPr marL="508000" indent="-508000" defTabSz="1219200">
              <a:lnSpc>
                <a:spcPts val="5600"/>
              </a:lnSpc>
              <a:spcBef>
                <a:spcPts val="0"/>
              </a:spcBef>
              <a:buSzPct val="123000"/>
              <a:buChar char="•"/>
              <a:defRPr sz="4000" b="1">
                <a:solidFill>
                  <a:schemeClr val="accent5">
                    <a:hueOff val="-82419"/>
                    <a:satOff val="-9512"/>
                    <a:lumOff val="-16342"/>
                  </a:schemeClr>
                </a:solidFill>
                <a:latin typeface="Raleway Bold"/>
                <a:ea typeface="Raleway Bold"/>
                <a:cs typeface="Raleway Bold"/>
                <a:sym typeface="Raleway Bold"/>
              </a:defRPr>
            </a:pPr>
            <a:r>
              <a:t>上下文切换成本高</a:t>
            </a:r>
          </a:p>
          <a:p>
            <a:pPr marL="508000" indent="-508000" defTabSz="1219200">
              <a:lnSpc>
                <a:spcPts val="5600"/>
              </a:lnSpc>
              <a:spcBef>
                <a:spcPts val="0"/>
              </a:spcBef>
              <a:buSzPct val="123000"/>
              <a:buChar char="•"/>
              <a:defRPr sz="4000" b="1">
                <a:solidFill>
                  <a:schemeClr val="accent5">
                    <a:hueOff val="-82419"/>
                    <a:satOff val="-9512"/>
                    <a:lumOff val="-16342"/>
                  </a:schemeClr>
                </a:solidFill>
                <a:latin typeface="Raleway Bold"/>
                <a:ea typeface="Raleway Bold"/>
                <a:cs typeface="Raleway Bold"/>
                <a:sym typeface="Raleway Bold"/>
              </a:defRPr>
            </a:pPr>
          </a:p>
          <a:p>
            <a:pPr marL="508000" indent="-508000" defTabSz="1219200">
              <a:lnSpc>
                <a:spcPts val="5600"/>
              </a:lnSpc>
              <a:spcBef>
                <a:spcPts val="0"/>
              </a:spcBef>
              <a:buSzPct val="123000"/>
              <a:buChar char="•"/>
              <a:defRPr sz="4000" b="1">
                <a:solidFill>
                  <a:schemeClr val="accent5">
                    <a:hueOff val="-82419"/>
                    <a:satOff val="-9512"/>
                    <a:lumOff val="-16342"/>
                  </a:schemeClr>
                </a:solidFill>
                <a:latin typeface="Raleway Bold"/>
                <a:ea typeface="Raleway Bold"/>
                <a:cs typeface="Raleway Bold"/>
                <a:sym typeface="Raleway Bold"/>
              </a:defRPr>
            </a:pPr>
            <a:r>
              <a:t>主观性不一致</a:t>
            </a:r>
          </a:p>
          <a:p>
            <a:pPr marL="508000" indent="-508000" defTabSz="1219200">
              <a:lnSpc>
                <a:spcPts val="5600"/>
              </a:lnSpc>
              <a:spcBef>
                <a:spcPts val="0"/>
              </a:spcBef>
              <a:buSzPct val="123000"/>
              <a:buChar char="•"/>
              <a:defRPr sz="4000" b="1">
                <a:solidFill>
                  <a:schemeClr val="accent5">
                    <a:hueOff val="-82419"/>
                    <a:satOff val="-9512"/>
                    <a:lumOff val="-16342"/>
                  </a:schemeClr>
                </a:solidFill>
                <a:latin typeface="Raleway Bold"/>
                <a:ea typeface="Raleway Bold"/>
                <a:cs typeface="Raleway Bold"/>
                <a:sym typeface="Raleway Bold"/>
              </a:defRPr>
            </a:pPr>
          </a:p>
          <a:p>
            <a:pPr marL="508000" indent="-508000" defTabSz="1219200">
              <a:lnSpc>
                <a:spcPts val="5600"/>
              </a:lnSpc>
              <a:spcBef>
                <a:spcPts val="0"/>
              </a:spcBef>
              <a:buSzPct val="123000"/>
              <a:buChar char="•"/>
              <a:defRPr sz="4000" b="1">
                <a:solidFill>
                  <a:schemeClr val="accent5">
                    <a:hueOff val="-82419"/>
                    <a:satOff val="-9512"/>
                    <a:lumOff val="-16342"/>
                  </a:schemeClr>
                </a:solidFill>
                <a:latin typeface="Raleway Bold"/>
                <a:ea typeface="Raleway Bold"/>
                <a:cs typeface="Raleway Bold"/>
                <a:sym typeface="Raleway Bold"/>
              </a:defRPr>
            </a:pPr>
            <a:r>
              <a:t>容易遗漏</a:t>
            </a:r>
          </a:p>
          <a:p>
            <a:pPr marL="508000" indent="-508000" defTabSz="1219200">
              <a:lnSpc>
                <a:spcPts val="5600"/>
              </a:lnSpc>
              <a:spcBef>
                <a:spcPts val="0"/>
              </a:spcBef>
              <a:buSzPct val="123000"/>
              <a:buChar char="•"/>
              <a:defRPr sz="4000" b="1">
                <a:solidFill>
                  <a:schemeClr val="accent5">
                    <a:hueOff val="-82419"/>
                    <a:satOff val="-9512"/>
                    <a:lumOff val="-16342"/>
                  </a:schemeClr>
                </a:solidFill>
                <a:latin typeface="Raleway Bold"/>
                <a:ea typeface="Raleway Bold"/>
                <a:cs typeface="Raleway Bold"/>
                <a:sym typeface="Raleway Bold"/>
              </a:defRPr>
            </a:pPr>
          </a:p>
          <a:p>
            <a:pPr marL="508000" indent="-508000" defTabSz="1219200">
              <a:lnSpc>
                <a:spcPts val="5600"/>
              </a:lnSpc>
              <a:spcBef>
                <a:spcPts val="0"/>
              </a:spcBef>
              <a:buSzPct val="123000"/>
              <a:buChar char="•"/>
              <a:defRPr sz="4000" b="1">
                <a:solidFill>
                  <a:schemeClr val="accent5">
                    <a:hueOff val="-82419"/>
                    <a:satOff val="-9512"/>
                    <a:lumOff val="-16342"/>
                  </a:schemeClr>
                </a:solidFill>
                <a:latin typeface="Raleway Bold"/>
                <a:ea typeface="Raleway Bold"/>
                <a:cs typeface="Raleway Bold"/>
                <a:sym typeface="Raleway Bold"/>
              </a:defRPr>
            </a:pPr>
            <a:r>
              <a:t>重复性劳动</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本项目旨在构建一个智能代码审查系统，利用 Python 和深度学习技术在后台自动分析、理解并检查代码，提高代码审查的效率和客观性；同时，通过一个现代化的 Web 界面，为开发者提供实时、可视化的缺陷提示和团队协作功能，从而解决传统代码审查存在的一些问题。"/>
          <p:cNvSpPr txBox="1"/>
          <p:nvPr/>
        </p:nvSpPr>
        <p:spPr>
          <a:xfrm>
            <a:off x="2038745" y="3164658"/>
            <a:ext cx="14798878" cy="7386685"/>
          </a:xfrm>
          <a:prstGeom prst="rect">
            <a:avLst/>
          </a:prstGeom>
          <a:ln w="12700">
            <a:miter lim="400000"/>
          </a:ln>
        </p:spPr>
        <p:txBody>
          <a:bodyPr lIns="50800" tIns="50800" rIns="50800" bIns="50800" anchor="ctr">
            <a:spAutoFit/>
          </a:bodyPr>
          <a:lstStyle/>
          <a:p>
            <a:pPr>
              <a:lnSpc>
                <a:spcPct val="150000"/>
              </a:lnSpc>
            </a:pPr>
            <a:r>
              <a:t>       本项目旨在构建一个智能代码审查系统，利用 </a:t>
            </a:r>
            <a:r>
              <a:rPr b="1">
                <a:solidFill>
                  <a:schemeClr val="accent5">
                    <a:hueOff val="-82419"/>
                    <a:satOff val="-9512"/>
                    <a:lumOff val="-16342"/>
                  </a:schemeClr>
                </a:solidFill>
              </a:rPr>
              <a:t>Python 和深度学习技术</a:t>
            </a:r>
            <a:r>
              <a:t>在后台自动分析、理解并检查代码，提高代码审查的效率和客观性；同时，通过一个</a:t>
            </a:r>
            <a:r>
              <a:rPr b="1">
                <a:solidFill>
                  <a:schemeClr val="accent5">
                    <a:hueOff val="-82419"/>
                    <a:satOff val="-9512"/>
                    <a:lumOff val="-16342"/>
                  </a:schemeClr>
                </a:solidFill>
              </a:rPr>
              <a:t>现代化的 Web 界面</a:t>
            </a:r>
            <a:r>
              <a:t>，为开发者提供</a:t>
            </a:r>
            <a:r>
              <a:rPr b="1">
                <a:solidFill>
                  <a:schemeClr val="accent5">
                    <a:hueOff val="-82419"/>
                    <a:satOff val="-9512"/>
                    <a:lumOff val="-16342"/>
                  </a:schemeClr>
                </a:solidFill>
              </a:rPr>
              <a:t>实时、可视化的缺陷提示和团队协作功能</a:t>
            </a:r>
            <a:r>
              <a:t>，从而解决传统代码审查存在的一些问题。</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需要解决的关键问题"/>
          <p:cNvSpPr txBox="1"/>
          <p:nvPr/>
        </p:nvSpPr>
        <p:spPr>
          <a:xfrm>
            <a:off x="1213122" y="907357"/>
            <a:ext cx="5621021" cy="1417321"/>
          </a:xfrm>
          <a:prstGeom prst="rect">
            <a:avLst/>
          </a:prstGeom>
          <a:ln w="12700">
            <a:miter lim="400000"/>
          </a:ln>
        </p:spPr>
        <p:txBody>
          <a:bodyPr wrap="none" lIns="60959" tIns="60959" rIns="60959" bIns="60959">
            <a:spAutoFit/>
          </a:bodyPr>
          <a:lstStyle>
            <a:lvl1pPr defTabSz="609600">
              <a:lnSpc>
                <a:spcPct val="100000"/>
              </a:lnSpc>
              <a:spcBef>
                <a:spcPts val="1600"/>
              </a:spcBef>
              <a:defRPr b="1">
                <a:solidFill>
                  <a:srgbClr val="242424"/>
                </a:solidFill>
                <a:latin typeface="Times Roman"/>
                <a:ea typeface="Times Roman"/>
                <a:cs typeface="Times Roman"/>
                <a:sym typeface="Times Roman"/>
              </a:defRPr>
            </a:lvl1pPr>
          </a:lstStyle>
          <a:p>
            <a:r>
              <a:t>需要解决的关键问题</a:t>
            </a:r>
            <a:endParaRPr sz="1600" b="0">
              <a:solidFill>
                <a:srgbClr val="000000"/>
              </a:solidFill>
            </a:endParaRPr>
          </a:p>
        </p:txBody>
      </p:sp>
      <p:sp>
        <p:nvSpPr>
          <p:cNvPr id="201" name="线条"/>
          <p:cNvSpPr/>
          <p:nvPr/>
        </p:nvSpPr>
        <p:spPr>
          <a:xfrm>
            <a:off x="865871" y="2619629"/>
            <a:ext cx="12117570" cy="1"/>
          </a:xfrm>
          <a:prstGeom prst="line">
            <a:avLst/>
          </a:prstGeom>
          <a:ln w="25400">
            <a:solidFill>
              <a:srgbClr val="000000"/>
            </a:solidFill>
            <a:miter lim="400000"/>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
        <p:nvSpPr>
          <p:cNvPr id="202" name="如何利用深度学习技术，在保证高准确率 (&gt;=85%) 的前提下，实现代码缺陷的自动化检测和智能修复建议生成？"/>
          <p:cNvSpPr txBox="1"/>
          <p:nvPr/>
        </p:nvSpPr>
        <p:spPr>
          <a:xfrm>
            <a:off x="4261375" y="4883150"/>
            <a:ext cx="16528741" cy="3949701"/>
          </a:xfrm>
          <a:prstGeom prst="rect">
            <a:avLst/>
          </a:prstGeom>
          <a:ln w="12700">
            <a:miter lim="400000"/>
          </a:ln>
        </p:spPr>
        <p:txBody>
          <a:bodyPr lIns="50800" tIns="50800" rIns="50800" bIns="50800" anchor="ctr">
            <a:spAutoFit/>
          </a:bodyPr>
          <a:lstStyle>
            <a:lvl1pPr>
              <a:lnSpc>
                <a:spcPct val="150000"/>
              </a:lnSpc>
            </a:lvl1pPr>
          </a:lstStyle>
          <a:p>
            <a:r>
              <a:t>如何利用深度学习技术，在保证高准确率 (&gt;=85%) 的前提下，实现代码缺陷的自动化检测和智能修复建议生成？</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04" name="TextBox 2"/>
          <p:cNvSpPr txBox="1"/>
          <p:nvPr/>
        </p:nvSpPr>
        <p:spPr>
          <a:xfrm>
            <a:off x="23320650" y="12549699"/>
            <a:ext cx="196343" cy="455247"/>
          </a:xfrm>
          <a:prstGeom prst="rect">
            <a:avLst/>
          </a:prstGeom>
          <a:ln w="12700">
            <a:miter lim="400000"/>
          </a:ln>
        </p:spPr>
        <p:txBody>
          <a:bodyPr wrap="none" lIns="0" tIns="0" rIns="0" bIns="0">
            <a:spAutoFit/>
          </a:bodyPr>
          <a:lstStyle>
            <a:lvl1pPr algn="r" defTabSz="1219200">
              <a:lnSpc>
                <a:spcPts val="3700"/>
              </a:lnSpc>
              <a:spcBef>
                <a:spcPts val="0"/>
              </a:spcBef>
              <a:defRPr sz="2600">
                <a:solidFill>
                  <a:srgbClr val="333333"/>
                </a:solidFill>
                <a:latin typeface="Raleway"/>
                <a:ea typeface="Raleway"/>
                <a:cs typeface="Raleway"/>
                <a:sym typeface="Raleway"/>
              </a:defRPr>
            </a:lvl1pPr>
          </a:lstStyle>
          <a:p>
            <a:r>
              <a:t>3</a:t>
            </a:r>
          </a:p>
        </p:txBody>
      </p:sp>
      <p:sp>
        <p:nvSpPr>
          <p:cNvPr id="205" name="AutoShape 3"/>
          <p:cNvSpPr/>
          <p:nvPr/>
        </p:nvSpPr>
        <p:spPr>
          <a:xfrm>
            <a:off x="1908938" y="12814300"/>
            <a:ext cx="20832615" cy="0"/>
          </a:xfrm>
          <a:prstGeom prst="line">
            <a:avLst/>
          </a:prstGeom>
          <a:ln w="25400">
            <a:solidFill>
              <a:srgbClr val="375A7F"/>
            </a:solidFill>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
        <p:nvSpPr>
          <p:cNvPr id="206" name="Freeform 4"/>
          <p:cNvSpPr/>
          <p:nvPr/>
        </p:nvSpPr>
        <p:spPr>
          <a:xfrm>
            <a:off x="895349" y="12517179"/>
            <a:ext cx="594245" cy="594244"/>
          </a:xfrm>
          <a:prstGeom prst="rect">
            <a:avLst/>
          </a:prstGeom>
          <a:blipFill>
            <a:blip r:embed="rId1"/>
            <a:stretch>
              <a:fillRect/>
            </a:stretch>
          </a:blipFill>
          <a:ln w="12700">
            <a:miter lim="400000"/>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
        <p:nvSpPr>
          <p:cNvPr id="207" name="02 国内外同类项目调研分析"/>
          <p:cNvSpPr txBox="1"/>
          <p:nvPr/>
        </p:nvSpPr>
        <p:spPr>
          <a:xfrm>
            <a:off x="3134714" y="3895923"/>
            <a:ext cx="11336021" cy="2687321"/>
          </a:xfrm>
          <a:prstGeom prst="rect">
            <a:avLst/>
          </a:prstGeom>
          <a:ln w="12700">
            <a:miter lim="400000"/>
          </a:ln>
        </p:spPr>
        <p:txBody>
          <a:bodyPr wrap="none" lIns="60959" tIns="60959" rIns="60959" bIns="60959">
            <a:spAutoFit/>
          </a:bodyPr>
          <a:lstStyle>
            <a:lvl1pPr defTabSz="609600">
              <a:lnSpc>
                <a:spcPct val="100000"/>
              </a:lnSpc>
              <a:spcBef>
                <a:spcPts val="1600"/>
              </a:spcBef>
              <a:defRPr sz="7200" b="1">
                <a:solidFill>
                  <a:srgbClr val="242424"/>
                </a:solidFill>
                <a:latin typeface="Times Roman"/>
                <a:ea typeface="Times Roman"/>
                <a:cs typeface="Times Roman"/>
                <a:sym typeface="Times Roman"/>
              </a:defRPr>
            </a:lvl1pPr>
          </a:lstStyle>
          <a:p>
            <a:r>
              <a:t>02 国内外同类项目调研分析</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 name="已粘贴的影片.png" descr="已粘贴的影片.png"/>
          <p:cNvPicPr>
            <a:picLocks noChangeAspect="1"/>
          </p:cNvPicPr>
          <p:nvPr/>
        </p:nvPicPr>
        <p:blipFill>
          <a:blip r:embed="rId1"/>
          <a:stretch>
            <a:fillRect/>
          </a:stretch>
        </p:blipFill>
        <p:spPr>
          <a:xfrm>
            <a:off x="1891868" y="1907626"/>
            <a:ext cx="4915475" cy="2591796"/>
          </a:xfrm>
          <a:prstGeom prst="rect">
            <a:avLst/>
          </a:prstGeom>
          <a:ln w="12700">
            <a:miter lim="400000"/>
            <a:headEnd/>
            <a:tailEnd/>
          </a:ln>
        </p:spPr>
      </p:pic>
      <p:pic>
        <p:nvPicPr>
          <p:cNvPr id="210" name="deepseek_mermaid_20251028_2ae9f7.png" descr="deepseek_mermaid_20251028_2ae9f7.png"/>
          <p:cNvPicPr>
            <a:picLocks noChangeAspect="1"/>
          </p:cNvPicPr>
          <p:nvPr/>
        </p:nvPicPr>
        <p:blipFill>
          <a:blip r:embed="rId2"/>
          <a:stretch>
            <a:fillRect/>
          </a:stretch>
        </p:blipFill>
        <p:spPr>
          <a:xfrm>
            <a:off x="9032397" y="2432911"/>
            <a:ext cx="13883108" cy="8850178"/>
          </a:xfrm>
          <a:prstGeom prst="rect">
            <a:avLst/>
          </a:prstGeom>
          <a:ln w="12700">
            <a:miter lim="400000"/>
            <a:headEnd/>
            <a:tailEnd/>
          </a:ln>
        </p:spPr>
      </p:pic>
      <p:sp>
        <p:nvSpPr>
          <p:cNvPr id="211" name="结合机器学习构建AI知识库和 静态应用安全测试 (SAST) 技术"/>
          <p:cNvSpPr txBox="1"/>
          <p:nvPr/>
        </p:nvSpPr>
        <p:spPr>
          <a:xfrm>
            <a:off x="994549" y="7554557"/>
            <a:ext cx="7404535" cy="1600201"/>
          </a:xfrm>
          <a:prstGeom prst="rect">
            <a:avLst/>
          </a:prstGeom>
          <a:ln w="12700">
            <a:miter lim="400000"/>
          </a:ln>
        </p:spPr>
        <p:txBody>
          <a:bodyPr wrap="none" lIns="50800" tIns="50800" rIns="50800" bIns="50800" anchor="ctr">
            <a:spAutoFit/>
          </a:bodyPr>
          <a:lstStyle/>
          <a:p>
            <a:pPr defTabSz="457200">
              <a:lnSpc>
                <a:spcPct val="100000"/>
              </a:lnSpc>
              <a:spcBef>
                <a:spcPts val="0"/>
              </a:spcBef>
              <a:defRPr sz="4200" b="1">
                <a:latin typeface="Times Roman"/>
                <a:ea typeface="Times Roman"/>
                <a:cs typeface="Times Roman"/>
                <a:sym typeface="Times Roman"/>
              </a:defRPr>
            </a:pPr>
            <a:r>
              <a:rPr b="0"/>
              <a:t>结合机器学习构建AI知识库和</a:t>
            </a:r>
            <a:br>
              <a:rPr b="0"/>
            </a:br>
            <a:r>
              <a:t>静态应用安全测试 (SAST)</a:t>
            </a:r>
            <a:r>
              <a:rPr b="0"/>
              <a:t> 技术</a:t>
            </a:r>
            <a:endParaRPr b="0"/>
          </a:p>
        </p:txBody>
      </p:sp>
      <p:sp>
        <p:nvSpPr>
          <p:cNvPr id="212" name="解决的是传统 SAST 工具误报率高、 无法理解复杂数据流的问题"/>
          <p:cNvSpPr txBox="1"/>
          <p:nvPr/>
        </p:nvSpPr>
        <p:spPr>
          <a:xfrm>
            <a:off x="980762" y="9926183"/>
            <a:ext cx="8610154" cy="1600201"/>
          </a:xfrm>
          <a:prstGeom prst="rect">
            <a:avLst/>
          </a:prstGeom>
          <a:ln w="12700">
            <a:miter lim="400000"/>
          </a:ln>
        </p:spPr>
        <p:txBody>
          <a:bodyPr wrap="none" lIns="50800" tIns="50800" rIns="50800" bIns="50800" anchor="ctr">
            <a:spAutoFit/>
          </a:bodyPr>
          <a:lstStyle/>
          <a:p>
            <a:pPr defTabSz="457200">
              <a:lnSpc>
                <a:spcPct val="100000"/>
              </a:lnSpc>
              <a:spcBef>
                <a:spcPts val="0"/>
              </a:spcBef>
              <a:defRPr sz="4200">
                <a:latin typeface="Times Roman"/>
                <a:ea typeface="Times Roman"/>
                <a:cs typeface="Times Roman"/>
                <a:sym typeface="Times Roman"/>
              </a:defRPr>
            </a:pPr>
            <a:r>
              <a:t>解决的是传统 SAST 工具误报率高、</a:t>
            </a:r>
            <a:br/>
            <a:r>
              <a:t>无法理解复杂数据流的问题</a:t>
            </a:r>
          </a:p>
        </p:txBody>
      </p:sp>
      <p:sp>
        <p:nvSpPr>
          <p:cNvPr id="213" name="Snyk Code"/>
          <p:cNvSpPr txBox="1"/>
          <p:nvPr/>
        </p:nvSpPr>
        <p:spPr>
          <a:xfrm>
            <a:off x="2790705" y="5139238"/>
            <a:ext cx="3117800" cy="808432"/>
          </a:xfrm>
          <a:prstGeom prst="rect">
            <a:avLst/>
          </a:prstGeom>
          <a:ln w="12700">
            <a:miter lim="400000"/>
          </a:ln>
        </p:spPr>
        <p:txBody>
          <a:bodyPr wrap="none" lIns="50800" tIns="50800" rIns="50800" bIns="50800" anchor="ctr">
            <a:spAutoFit/>
          </a:bodyPr>
          <a:lstStyle/>
          <a:p>
            <a:r>
              <a:t>Snyk Code</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 name="logo-orange.svg" descr="logo-orange.svg"/>
          <p:cNvPicPr>
            <a:picLocks noChangeAspect="1"/>
          </p:cNvPicPr>
          <p:nvPr/>
        </p:nvPicPr>
        <p:blipFill>
          <a:blip r:embed="rId1"/>
          <a:stretch>
            <a:fillRect/>
          </a:stretch>
        </p:blipFill>
        <p:spPr>
          <a:xfrm>
            <a:off x="2535107" y="2754737"/>
            <a:ext cx="6195164" cy="903941"/>
          </a:xfrm>
          <a:prstGeom prst="rect">
            <a:avLst/>
          </a:prstGeom>
          <a:ln w="12700">
            <a:miter lim="400000"/>
            <a:headEnd/>
            <a:tailEnd/>
          </a:ln>
        </p:spPr>
      </p:pic>
      <p:pic>
        <p:nvPicPr>
          <p:cNvPr id="216" name="已粘贴的影片.png" descr="已粘贴的影片.png"/>
          <p:cNvPicPr>
            <a:picLocks noChangeAspect="1"/>
          </p:cNvPicPr>
          <p:nvPr/>
        </p:nvPicPr>
        <p:blipFill>
          <a:blip r:embed="rId2"/>
          <a:stretch>
            <a:fillRect/>
          </a:stretch>
        </p:blipFill>
        <p:spPr>
          <a:xfrm>
            <a:off x="11591292" y="1115316"/>
            <a:ext cx="10466846" cy="11116960"/>
          </a:xfrm>
          <a:prstGeom prst="rect">
            <a:avLst/>
          </a:prstGeom>
          <a:ln w="12700">
            <a:miter lim="400000"/>
            <a:headEnd/>
            <a:tailEnd/>
          </a:ln>
        </p:spPr>
      </p:pic>
      <p:sp>
        <p:nvSpPr>
          <p:cNvPr id="217" name="结合LLM和AST Grep技术的模型"/>
          <p:cNvSpPr txBox="1"/>
          <p:nvPr/>
        </p:nvSpPr>
        <p:spPr>
          <a:xfrm>
            <a:off x="2132296" y="6248346"/>
            <a:ext cx="7705354" cy="850901"/>
          </a:xfrm>
          <a:prstGeom prst="rect">
            <a:avLst/>
          </a:prstGeom>
          <a:ln w="12700">
            <a:miter lim="400000"/>
          </a:ln>
        </p:spPr>
        <p:txBody>
          <a:bodyPr wrap="none" lIns="50800" tIns="50800" rIns="50800" bIns="50800" anchor="ctr">
            <a:spAutoFit/>
          </a:bodyPr>
          <a:lstStyle>
            <a:lvl1pPr defTabSz="457200">
              <a:lnSpc>
                <a:spcPct val="100000"/>
              </a:lnSpc>
              <a:spcBef>
                <a:spcPts val="0"/>
              </a:spcBef>
              <a:defRPr sz="4200">
                <a:latin typeface="Times Roman"/>
                <a:ea typeface="Times Roman"/>
                <a:cs typeface="Times Roman"/>
                <a:sym typeface="Times Roman"/>
              </a:defRPr>
            </a:lvl1pPr>
          </a:lstStyle>
          <a:p>
            <a:pPr>
              <a:defRPr b="1"/>
            </a:pPr>
            <a:r>
              <a:rPr b="0"/>
              <a:t>结合LLM和AST Grep技术的模型</a:t>
            </a:r>
            <a:endParaRPr b="0"/>
          </a:p>
        </p:txBody>
      </p:sp>
      <p:sp>
        <p:nvSpPr>
          <p:cNvPr id="218" name="从“缺陷检测”推向“智能交互”，…"/>
          <p:cNvSpPr txBox="1"/>
          <p:nvPr/>
        </p:nvSpPr>
        <p:spPr>
          <a:xfrm>
            <a:off x="2061063" y="8093083"/>
            <a:ext cx="7847820" cy="3009901"/>
          </a:xfrm>
          <a:prstGeom prst="rect">
            <a:avLst/>
          </a:prstGeom>
          <a:ln w="12700">
            <a:miter lim="400000"/>
          </a:ln>
        </p:spPr>
        <p:txBody>
          <a:bodyPr wrap="none" lIns="50800" tIns="50800" rIns="50800" bIns="50800" anchor="ctr">
            <a:spAutoFit/>
          </a:bodyPr>
          <a:lstStyle/>
          <a:p>
            <a:pPr defTabSz="457200">
              <a:lnSpc>
                <a:spcPct val="100000"/>
              </a:lnSpc>
              <a:spcBef>
                <a:spcPts val="0"/>
              </a:spcBef>
              <a:defRPr sz="4200">
                <a:latin typeface="Times Roman"/>
                <a:ea typeface="Times Roman"/>
                <a:cs typeface="Times Roman"/>
                <a:sym typeface="Times Roman"/>
              </a:defRPr>
            </a:pPr>
            <a:r>
              <a:t>从“缺陷检测”推向“</a:t>
            </a:r>
            <a:r>
              <a:rPr b="1"/>
              <a:t>智能交互</a:t>
            </a:r>
            <a:r>
              <a:t>”，</a:t>
            </a:r>
            <a:br/>
          </a:p>
          <a:p>
            <a:pPr defTabSz="457200">
              <a:lnSpc>
                <a:spcPct val="100000"/>
              </a:lnSpc>
              <a:spcBef>
                <a:spcPts val="0"/>
              </a:spcBef>
              <a:defRPr sz="4200">
                <a:latin typeface="Times Roman"/>
                <a:ea typeface="Times Roman"/>
                <a:cs typeface="Times Roman"/>
                <a:sym typeface="Times Roman"/>
              </a:defRPr>
            </a:pPr>
            <a:r>
              <a:t>解决的是纯 LLM 容易产生“幻觉”</a:t>
            </a:r>
            <a:br/>
            <a:r>
              <a:t>和反馈不确定的问题</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 name="已粘贴的影片.png" descr="已粘贴的影片.png"/>
          <p:cNvPicPr>
            <a:picLocks noChangeAspect="1"/>
          </p:cNvPicPr>
          <p:nvPr/>
        </p:nvPicPr>
        <p:blipFill>
          <a:blip r:embed="rId1"/>
          <a:stretch>
            <a:fillRect/>
          </a:stretch>
        </p:blipFill>
        <p:spPr>
          <a:xfrm>
            <a:off x="3756987" y="2233958"/>
            <a:ext cx="3885405" cy="1705107"/>
          </a:xfrm>
          <a:prstGeom prst="rect">
            <a:avLst/>
          </a:prstGeom>
          <a:ln w="12700">
            <a:miter lim="400000"/>
            <a:headEnd/>
            <a:tailEnd/>
          </a:ln>
        </p:spPr>
      </p:pic>
      <p:pic>
        <p:nvPicPr>
          <p:cNvPr id="221" name="已粘贴的影片.png" descr="已粘贴的影片.png"/>
          <p:cNvPicPr>
            <a:picLocks noChangeAspect="1"/>
          </p:cNvPicPr>
          <p:nvPr/>
        </p:nvPicPr>
        <p:blipFill>
          <a:blip r:embed="rId2"/>
          <a:stretch>
            <a:fillRect/>
          </a:stretch>
        </p:blipFill>
        <p:spPr>
          <a:xfrm>
            <a:off x="15029154" y="414650"/>
            <a:ext cx="3780467" cy="12886700"/>
          </a:xfrm>
          <a:prstGeom prst="rect">
            <a:avLst/>
          </a:prstGeom>
          <a:ln w="12700">
            <a:miter lim="400000"/>
            <a:headEnd/>
            <a:tailEnd/>
          </a:ln>
        </p:spPr>
      </p:pic>
      <p:sp>
        <p:nvSpPr>
          <p:cNvPr id="222" name="采用了多模型融合策略…"/>
          <p:cNvSpPr txBox="1"/>
          <p:nvPr/>
        </p:nvSpPr>
        <p:spPr>
          <a:xfrm>
            <a:off x="1519846" y="7892096"/>
            <a:ext cx="11315701" cy="2260601"/>
          </a:xfrm>
          <a:prstGeom prst="rect">
            <a:avLst/>
          </a:prstGeom>
          <a:ln w="12700">
            <a:miter lim="400000"/>
          </a:ln>
        </p:spPr>
        <p:txBody>
          <a:bodyPr wrap="none" lIns="50800" tIns="50800" rIns="50800" bIns="50800" anchor="ctr">
            <a:spAutoFit/>
          </a:bodyPr>
          <a:lstStyle/>
          <a:p>
            <a:pPr defTabSz="457200">
              <a:lnSpc>
                <a:spcPct val="100000"/>
              </a:lnSpc>
              <a:spcBef>
                <a:spcPts val="0"/>
              </a:spcBef>
              <a:defRPr sz="4200">
                <a:latin typeface="Times Roman"/>
                <a:ea typeface="Times Roman"/>
                <a:cs typeface="Times Roman"/>
                <a:sym typeface="Times Roman"/>
              </a:defRPr>
            </a:pPr>
            <a:r>
              <a:t>采用了多模型融合策略</a:t>
            </a:r>
          </a:p>
          <a:p>
            <a:pPr defTabSz="457200">
              <a:lnSpc>
                <a:spcPct val="100000"/>
              </a:lnSpc>
              <a:spcBef>
                <a:spcPts val="0"/>
              </a:spcBef>
              <a:defRPr sz="4200">
                <a:latin typeface="Times Roman"/>
                <a:ea typeface="Times Roman"/>
                <a:cs typeface="Times Roman"/>
                <a:sym typeface="Times Roman"/>
              </a:defRPr>
            </a:pPr>
          </a:p>
          <a:p>
            <a:pPr defTabSz="457200">
              <a:lnSpc>
                <a:spcPct val="100000"/>
              </a:lnSpc>
              <a:spcBef>
                <a:spcPts val="0"/>
              </a:spcBef>
              <a:defRPr sz="4200">
                <a:latin typeface="Times Roman"/>
                <a:ea typeface="Times Roman"/>
                <a:cs typeface="Times Roman"/>
                <a:sym typeface="Times Roman"/>
              </a:defRPr>
            </a:pPr>
            <a:r>
              <a:t>核心是如何选择和调度不同模型以应对不同任务</a:t>
            </a:r>
          </a:p>
        </p:txBody>
      </p:sp>
      <p:sp>
        <p:nvSpPr>
          <p:cNvPr id="223" name="Code Buddy"/>
          <p:cNvSpPr txBox="1"/>
          <p:nvPr/>
        </p:nvSpPr>
        <p:spPr>
          <a:xfrm>
            <a:off x="3926210" y="4404515"/>
            <a:ext cx="3546959" cy="808432"/>
          </a:xfrm>
          <a:prstGeom prst="rect">
            <a:avLst/>
          </a:prstGeom>
          <a:ln w="12700">
            <a:miter lim="400000"/>
          </a:ln>
        </p:spPr>
        <p:txBody>
          <a:bodyPr wrap="none" lIns="50800" tIns="50800" rIns="50800" bIns="50800" anchor="ctr">
            <a:spAutoFit/>
          </a:bodyPr>
          <a:lstStyle/>
          <a:p>
            <a:r>
              <a:t>Code Buddy</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25" name="TextBox 2"/>
          <p:cNvSpPr txBox="1"/>
          <p:nvPr/>
        </p:nvSpPr>
        <p:spPr>
          <a:xfrm>
            <a:off x="23320650" y="12549699"/>
            <a:ext cx="196343" cy="455247"/>
          </a:xfrm>
          <a:prstGeom prst="rect">
            <a:avLst/>
          </a:prstGeom>
          <a:ln w="12700">
            <a:miter lim="400000"/>
          </a:ln>
        </p:spPr>
        <p:txBody>
          <a:bodyPr wrap="none" lIns="0" tIns="0" rIns="0" bIns="0">
            <a:spAutoFit/>
          </a:bodyPr>
          <a:lstStyle>
            <a:lvl1pPr algn="r" defTabSz="1219200">
              <a:lnSpc>
                <a:spcPts val="3700"/>
              </a:lnSpc>
              <a:spcBef>
                <a:spcPts val="0"/>
              </a:spcBef>
              <a:defRPr sz="2600">
                <a:solidFill>
                  <a:srgbClr val="333333"/>
                </a:solidFill>
                <a:latin typeface="Raleway"/>
                <a:ea typeface="Raleway"/>
                <a:cs typeface="Raleway"/>
                <a:sym typeface="Raleway"/>
              </a:defRPr>
            </a:lvl1pPr>
          </a:lstStyle>
          <a:p>
            <a:r>
              <a:t>3</a:t>
            </a:r>
          </a:p>
        </p:txBody>
      </p:sp>
      <p:sp>
        <p:nvSpPr>
          <p:cNvPr id="226" name="AutoShape 3"/>
          <p:cNvSpPr/>
          <p:nvPr/>
        </p:nvSpPr>
        <p:spPr>
          <a:xfrm>
            <a:off x="1908938" y="12814300"/>
            <a:ext cx="20832615" cy="0"/>
          </a:xfrm>
          <a:prstGeom prst="line">
            <a:avLst/>
          </a:prstGeom>
          <a:ln w="25400">
            <a:solidFill>
              <a:srgbClr val="375A7F"/>
            </a:solidFill>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
        <p:nvSpPr>
          <p:cNvPr id="227" name="Freeform 4"/>
          <p:cNvSpPr/>
          <p:nvPr/>
        </p:nvSpPr>
        <p:spPr>
          <a:xfrm>
            <a:off x="895349" y="12517179"/>
            <a:ext cx="594245" cy="594244"/>
          </a:xfrm>
          <a:prstGeom prst="rect">
            <a:avLst/>
          </a:prstGeom>
          <a:blipFill>
            <a:blip r:embed="rId1"/>
            <a:stretch>
              <a:fillRect/>
            </a:stretch>
          </a:blipFill>
          <a:ln w="12700">
            <a:miter lim="400000"/>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
        <p:nvSpPr>
          <p:cNvPr id="228" name="03 项目需求与内容"/>
          <p:cNvSpPr txBox="1"/>
          <p:nvPr/>
        </p:nvSpPr>
        <p:spPr>
          <a:xfrm>
            <a:off x="3134714" y="3895923"/>
            <a:ext cx="7678421" cy="2687321"/>
          </a:xfrm>
          <a:prstGeom prst="rect">
            <a:avLst/>
          </a:prstGeom>
          <a:ln w="12700">
            <a:miter lim="400000"/>
          </a:ln>
        </p:spPr>
        <p:txBody>
          <a:bodyPr wrap="none" lIns="60959" tIns="60959" rIns="60959" bIns="60959">
            <a:spAutoFit/>
          </a:bodyPr>
          <a:lstStyle/>
          <a:p>
            <a:pPr defTabSz="609600">
              <a:lnSpc>
                <a:spcPct val="100000"/>
              </a:lnSpc>
              <a:spcBef>
                <a:spcPts val="1600"/>
              </a:spcBef>
              <a:defRPr sz="7200" b="1">
                <a:solidFill>
                  <a:srgbClr val="242424"/>
                </a:solidFill>
                <a:latin typeface="Times Roman"/>
                <a:ea typeface="Times Roman"/>
                <a:cs typeface="Times Roman"/>
                <a:sym typeface="Times Roman"/>
              </a:defRPr>
            </a:pPr>
            <a:r>
              <a:t>03 </a:t>
            </a:r>
            <a:r>
              <a:rPr>
                <a:solidFill>
                  <a:srgbClr val="000000"/>
                </a:solidFill>
              </a:rPr>
              <a:t>项目需求</a:t>
            </a:r>
            <a:r>
              <a:t>与内容</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3.2 预期用户：开发者"/>
          <p:cNvSpPr txBox="1"/>
          <p:nvPr/>
        </p:nvSpPr>
        <p:spPr>
          <a:xfrm>
            <a:off x="1486133" y="3162289"/>
            <a:ext cx="6007914" cy="2162811"/>
          </a:xfrm>
          <a:prstGeom prst="rect">
            <a:avLst/>
          </a:prstGeom>
          <a:ln w="12700">
            <a:miter lim="400000"/>
          </a:ln>
        </p:spPr>
        <p:txBody>
          <a:bodyPr wrap="none" lIns="50800" tIns="50800" rIns="50800" bIns="50800" anchor="ctr">
            <a:spAutoFit/>
          </a:bodyPr>
          <a:lstStyle/>
          <a:p>
            <a:r>
              <a:t>3.2 预期用户：开发者</a:t>
            </a:r>
          </a:p>
        </p:txBody>
      </p:sp>
      <p:sp>
        <p:nvSpPr>
          <p:cNvPr id="231" name="3.3 功能需求"/>
          <p:cNvSpPr txBox="1"/>
          <p:nvPr/>
        </p:nvSpPr>
        <p:spPr>
          <a:xfrm>
            <a:off x="1485899" y="5394491"/>
            <a:ext cx="6182908" cy="3387528"/>
          </a:xfrm>
          <a:prstGeom prst="rect">
            <a:avLst/>
          </a:prstGeom>
          <a:ln w="12700">
            <a:miter lim="400000"/>
          </a:ln>
        </p:spPr>
        <p:txBody>
          <a:bodyPr lIns="50800" tIns="50800" rIns="50800" bIns="50800" anchor="ctr">
            <a:spAutoFit/>
          </a:bodyPr>
          <a:lstStyle/>
          <a:p>
            <a:r>
              <a:t>3.3 功能需求</a:t>
            </a:r>
          </a:p>
          <a:p/>
        </p:txBody>
      </p:sp>
      <p:sp>
        <p:nvSpPr>
          <p:cNvPr id="232" name="3.1 项目目标：构建一个基于深度学习的自动化代码审查系统"/>
          <p:cNvSpPr txBox="1"/>
          <p:nvPr/>
        </p:nvSpPr>
        <p:spPr>
          <a:xfrm>
            <a:off x="1486133" y="930087"/>
            <a:ext cx="16371114" cy="2162811"/>
          </a:xfrm>
          <a:prstGeom prst="rect">
            <a:avLst/>
          </a:prstGeom>
          <a:ln w="12700">
            <a:miter lim="400000"/>
          </a:ln>
        </p:spPr>
        <p:txBody>
          <a:bodyPr wrap="none" lIns="50800" tIns="50800" rIns="50800" bIns="50800" anchor="ctr">
            <a:spAutoFit/>
          </a:bodyPr>
          <a:lstStyle/>
          <a:p>
            <a:r>
              <a:t>3.1 项目目标：构建一个基于深度学习的自动化代码审查系统</a:t>
            </a:r>
          </a:p>
        </p:txBody>
      </p:sp>
      <p:sp>
        <p:nvSpPr>
          <p:cNvPr id="233" name="本项目的功能需求分为三大模块： AI 核心服务 前端用户交互 后端流程管理"/>
          <p:cNvSpPr txBox="1"/>
          <p:nvPr/>
        </p:nvSpPr>
        <p:spPr>
          <a:xfrm>
            <a:off x="6435488" y="7633637"/>
            <a:ext cx="9258301" cy="4066947"/>
          </a:xfrm>
          <a:prstGeom prst="rect">
            <a:avLst/>
          </a:prstGeom>
          <a:ln w="12700">
            <a:miter lim="400000"/>
          </a:ln>
        </p:spPr>
        <p:txBody>
          <a:bodyPr wrap="none" lIns="50800" tIns="50800" rIns="50800" bIns="50800" anchor="ctr">
            <a:spAutoFit/>
          </a:bodyPr>
          <a:lstStyle/>
          <a:p>
            <a:pPr algn="ctr">
              <a:lnSpc>
                <a:spcPct val="120000"/>
              </a:lnSpc>
            </a:pPr>
            <a:r>
              <a:t>本项目的功能需求分为三大模块：</a:t>
            </a:r>
            <a:br/>
            <a:r>
              <a:rPr>
                <a:solidFill>
                  <a:schemeClr val="accent5">
                    <a:hueOff val="-82419"/>
                    <a:satOff val="-9512"/>
                    <a:lumOff val="-16342"/>
                  </a:schemeClr>
                </a:solidFill>
              </a:rPr>
              <a:t>AI 核心服务</a:t>
            </a:r>
            <a:br>
              <a:rPr>
                <a:solidFill>
                  <a:schemeClr val="accent4">
                    <a:hueOff val="-476017"/>
                    <a:lumOff val="-10041"/>
                  </a:schemeClr>
                </a:solidFill>
              </a:rPr>
            </a:br>
            <a:r>
              <a:rPr>
                <a:solidFill>
                  <a:schemeClr val="accent3">
                    <a:hueOff val="914338"/>
                    <a:satOff val="31515"/>
                    <a:lumOff val="-30789"/>
                  </a:schemeClr>
                </a:solidFill>
              </a:rPr>
              <a:t>前端用户交互</a:t>
            </a:r>
            <a:br>
              <a:rPr>
                <a:solidFill>
                  <a:schemeClr val="accent3">
                    <a:hueOff val="914338"/>
                    <a:satOff val="31515"/>
                    <a:lumOff val="-30789"/>
                  </a:schemeClr>
                </a:solidFill>
              </a:rPr>
            </a:br>
            <a:r>
              <a:rPr>
                <a:solidFill>
                  <a:schemeClr val="accent1">
                    <a:lumOff val="-13574"/>
                  </a:schemeClr>
                </a:solidFill>
              </a:rPr>
              <a:t>后端流程管理</a:t>
            </a:r>
            <a:endParaRPr>
              <a:solidFill>
                <a:schemeClr val="accent1">
                  <a:lumOff val="-13574"/>
                </a:schemeClr>
              </a:solidFill>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 name="表格 1"/>
          <p:cNvGraphicFramePr/>
          <p:nvPr/>
        </p:nvGraphicFramePr>
        <p:xfrm>
          <a:off x="2165439" y="3142800"/>
          <a:ext cx="16690697" cy="8949328"/>
        </p:xfrm>
        <a:graphic>
          <a:graphicData uri="http://schemas.openxmlformats.org/drawingml/2006/table">
            <a:tbl>
              <a:tblPr>
                <a:tableStyleId>{4C3C2611-4C71-4FC5-86AE-919BDF0F9419}</a:tableStyleId>
              </a:tblPr>
              <a:tblGrid>
                <a:gridCol w="1080882"/>
                <a:gridCol w="1867260"/>
                <a:gridCol w="9314332"/>
                <a:gridCol w="4415521"/>
              </a:tblGrid>
              <a:tr h="2234156">
                <a:tc>
                  <a:txBody>
                    <a:bodyPr/>
                    <a:lstStyle/>
                    <a:p>
                      <a:pPr algn="l" defTabSz="457200"/>
                      <a:r>
                        <a:rPr sz="2600">
                          <a:solidFill>
                            <a:srgbClr val="1B1C1D"/>
                          </a:solidFill>
                          <a:latin typeface="Helvetica"/>
                          <a:ea typeface="Helvetica"/>
                          <a:cs typeface="Helvetica"/>
                          <a:sym typeface="Helvetica"/>
                        </a:rPr>
                        <a:t>需求编号</a:t>
                      </a:r>
                      <a:endParaRPr sz="2600">
                        <a:solidFill>
                          <a:srgbClr val="1B1C1D"/>
                        </a:solidFill>
                        <a:latin typeface="Helvetica"/>
                        <a:ea typeface="Helvetica"/>
                        <a:cs typeface="Helvetica"/>
                        <a:sym typeface="Helvetica"/>
                      </a:endParaRPr>
                    </a:p>
                  </a:txBody>
                  <a:tcPr marL="152400" marR="152400" marT="101600" marB="101600" anchor="ctr" anchorCtr="0" horzOverflow="overflow">
                    <a:solidFill>
                      <a:srgbClr val="EFEFEF"/>
                    </a:solidFill>
                  </a:tcPr>
                </a:tc>
                <a:tc>
                  <a:txBody>
                    <a:bodyPr/>
                    <a:lstStyle/>
                    <a:p>
                      <a:pPr algn="l" defTabSz="457200"/>
                      <a:r>
                        <a:rPr sz="2600">
                          <a:solidFill>
                            <a:srgbClr val="1B1C1D"/>
                          </a:solidFill>
                          <a:latin typeface="Helvetica"/>
                          <a:ea typeface="Helvetica"/>
                          <a:cs typeface="Helvetica"/>
                          <a:sym typeface="Helvetica"/>
                        </a:rPr>
                        <a:t>需求名称</a:t>
                      </a:r>
                      <a:endParaRPr sz="2600">
                        <a:solidFill>
                          <a:srgbClr val="1B1C1D"/>
                        </a:solidFill>
                        <a:latin typeface="Helvetica"/>
                        <a:ea typeface="Helvetica"/>
                        <a:cs typeface="Helvetica"/>
                        <a:sym typeface="Helvetica"/>
                      </a:endParaRPr>
                    </a:p>
                  </a:txBody>
                  <a:tcPr marL="152400" marR="152400" marT="101600" marB="101600" anchor="ctr" anchorCtr="0" horzOverflow="overflow">
                    <a:solidFill>
                      <a:srgbClr val="EFEFEF"/>
                    </a:solidFill>
                  </a:tcPr>
                </a:tc>
                <a:tc>
                  <a:txBody>
                    <a:bodyPr/>
                    <a:lstStyle/>
                    <a:p>
                      <a:pPr algn="l" defTabSz="457200"/>
                      <a:r>
                        <a:rPr sz="2600">
                          <a:solidFill>
                            <a:srgbClr val="1B1C1D"/>
                          </a:solidFill>
                          <a:latin typeface="Helvetica"/>
                          <a:ea typeface="Helvetica"/>
                          <a:cs typeface="Helvetica"/>
                          <a:sym typeface="Helvetica"/>
                        </a:rPr>
                        <a:t>详细描述</a:t>
                      </a:r>
                      <a:endParaRPr sz="2600">
                        <a:solidFill>
                          <a:srgbClr val="1B1C1D"/>
                        </a:solidFill>
                        <a:latin typeface="Helvetica"/>
                        <a:ea typeface="Helvetica"/>
                        <a:cs typeface="Helvetica"/>
                        <a:sym typeface="Helvetica"/>
                      </a:endParaRPr>
                    </a:p>
                  </a:txBody>
                  <a:tcPr marL="152400" marR="152400" marT="101600" marB="101600" anchor="ctr" anchorCtr="0" horzOverflow="overflow">
                    <a:solidFill>
                      <a:srgbClr val="EFEFEF"/>
                    </a:solidFill>
                  </a:tcPr>
                </a:tc>
                <a:tc>
                  <a:txBody>
                    <a:bodyPr/>
                    <a:lstStyle/>
                    <a:p>
                      <a:pPr algn="l" defTabSz="457200"/>
                      <a:r>
                        <a:rPr sz="2600">
                          <a:solidFill>
                            <a:srgbClr val="1B1C1D"/>
                          </a:solidFill>
                          <a:latin typeface="Helvetica"/>
                          <a:ea typeface="Helvetica"/>
                          <a:cs typeface="Helvetica"/>
                          <a:sym typeface="Helvetica"/>
                        </a:rPr>
                        <a:t>性能指标</a:t>
                      </a:r>
                      <a:endParaRPr sz="2600">
                        <a:solidFill>
                          <a:srgbClr val="1B1C1D"/>
                        </a:solidFill>
                        <a:latin typeface="Helvetica"/>
                        <a:ea typeface="Helvetica"/>
                        <a:cs typeface="Helvetica"/>
                        <a:sym typeface="Helvetica"/>
                      </a:endParaRPr>
                    </a:p>
                  </a:txBody>
                  <a:tcPr marL="152400" marR="152400" marT="101600" marB="101600" anchor="ctr" anchorCtr="0" horzOverflow="overflow">
                    <a:solidFill>
                      <a:srgbClr val="EFEFEF"/>
                    </a:solidFill>
                  </a:tcPr>
                </a:tc>
              </a:tr>
              <a:tr h="2234156">
                <a:tc>
                  <a:txBody>
                    <a:bodyPr/>
                    <a:lstStyle/>
                    <a:p>
                      <a:pPr algn="r" defTabSz="457200"/>
                      <a:r>
                        <a:rPr sz="2600">
                          <a:solidFill>
                            <a:srgbClr val="1B1C1D"/>
                          </a:solidFill>
                          <a:latin typeface="Helvetica"/>
                          <a:ea typeface="Helvetica"/>
                          <a:cs typeface="Helvetica"/>
                          <a:sym typeface="Helvetica"/>
                        </a:rPr>
                        <a:t>1.1</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代码缺陷 自动检测</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利用深度学习模型，对提交的代码的缺陷进行自动识别。</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准确率&gt;= 85%</a:t>
                      </a:r>
                      <a:endParaRPr sz="2600">
                        <a:solidFill>
                          <a:srgbClr val="1B1C1D"/>
                        </a:solidFill>
                        <a:latin typeface="Helvetica"/>
                        <a:ea typeface="Helvetica"/>
                        <a:cs typeface="Helvetica"/>
                        <a:sym typeface="Helvetica"/>
                      </a:endParaRPr>
                    </a:p>
                  </a:txBody>
                  <a:tcPr marL="152400" marR="152400" marT="101600" marB="101600" anchor="ctr" anchorCtr="0" horzOverflow="overflow"/>
                </a:tc>
              </a:tr>
              <a:tr h="2234156">
                <a:tc>
                  <a:txBody>
                    <a:bodyPr/>
                    <a:lstStyle/>
                    <a:p>
                      <a:pPr algn="r" defTabSz="457200"/>
                      <a:r>
                        <a:rPr sz="2600">
                          <a:solidFill>
                            <a:srgbClr val="1B1C1D"/>
                          </a:solidFill>
                          <a:latin typeface="Helvetica"/>
                          <a:ea typeface="Helvetica"/>
                          <a:cs typeface="Helvetica"/>
                          <a:sym typeface="Helvetica"/>
                        </a:rPr>
                        <a:t>1.2</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智能修复建议生成</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对检测到的缺陷，生成清晰、可操作的代码修复建议，可以考虑自然语言描述或直接的代码修改示例。</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修复建议的可采纳率 （待定义）</a:t>
                      </a:r>
                      <a:endParaRPr sz="2600">
                        <a:solidFill>
                          <a:srgbClr val="1B1C1D"/>
                        </a:solidFill>
                        <a:latin typeface="Helvetica"/>
                        <a:ea typeface="Helvetica"/>
                        <a:cs typeface="Helvetica"/>
                        <a:sym typeface="Helvetica"/>
                      </a:endParaRPr>
                    </a:p>
                  </a:txBody>
                  <a:tcPr marL="152400" marR="152400" marT="101600" marB="101600" anchor="ctr" anchorCtr="0" horzOverflow="overflow"/>
                </a:tc>
              </a:tr>
              <a:tr h="2234156">
                <a:tc>
                  <a:txBody>
                    <a:bodyPr/>
                    <a:lstStyle/>
                    <a:p>
                      <a:pPr algn="r" defTabSz="457200"/>
                      <a:r>
                        <a:rPr sz="2600">
                          <a:solidFill>
                            <a:srgbClr val="1B1C1D"/>
                          </a:solidFill>
                          <a:latin typeface="Helvetica"/>
                          <a:ea typeface="Helvetica"/>
                          <a:cs typeface="Helvetica"/>
                          <a:sym typeface="Helvetica"/>
                        </a:rPr>
                        <a:t>1.3</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代码质量风格审查</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基于代码质量与风格数据集（如 SonarQube Rules），对代码进行风格和规范的自动检查，并提供优化意见。</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考虑覆盖主流编码风格 （如 Google Style, PEP8）</a:t>
                      </a:r>
                      <a:endParaRPr sz="2600">
                        <a:solidFill>
                          <a:srgbClr val="1B1C1D"/>
                        </a:solidFill>
                        <a:latin typeface="Helvetica"/>
                        <a:ea typeface="Helvetica"/>
                        <a:cs typeface="Helvetica"/>
                        <a:sym typeface="Helvetica"/>
                      </a:endParaRPr>
                    </a:p>
                  </a:txBody>
                  <a:tcPr marL="152400" marR="152400" marT="101600" marB="101600" anchor="ctr" anchorCtr="0" horzOverflow="overflow"/>
                </a:tc>
              </a:tr>
            </a:tbl>
          </a:graphicData>
        </a:graphic>
      </p:graphicFrame>
      <p:sp>
        <p:nvSpPr>
          <p:cNvPr id="236" name="3.3.1 AI 核心服务模块功能需求"/>
          <p:cNvSpPr txBox="1"/>
          <p:nvPr/>
        </p:nvSpPr>
        <p:spPr>
          <a:xfrm>
            <a:off x="1209827" y="996735"/>
            <a:ext cx="8457897" cy="1591311"/>
          </a:xfrm>
          <a:prstGeom prst="rect">
            <a:avLst/>
          </a:prstGeom>
          <a:ln w="12700">
            <a:miter lim="400000"/>
          </a:ln>
        </p:spPr>
        <p:txBody>
          <a:bodyPr wrap="none" lIns="50800" tIns="50800" rIns="50800" bIns="50800" anchor="ctr">
            <a:spAutoFit/>
          </a:bodyPr>
          <a:lstStyle/>
          <a:p>
            <a:r>
              <a:t>3.3.1 </a:t>
            </a:r>
            <a:r>
              <a:rPr>
                <a:solidFill>
                  <a:schemeClr val="accent5">
                    <a:hueOff val="-82419"/>
                    <a:satOff val="-9512"/>
                    <a:lumOff val="-16342"/>
                  </a:schemeClr>
                </a:solidFill>
              </a:rPr>
              <a:t>AI 核心服务</a:t>
            </a:r>
            <a:r>
              <a:t>模块功能需求</a:t>
            </a:r>
            <a:br>
              <a:rPr>
                <a:solidFill>
                  <a:schemeClr val="accent4">
                    <a:hueOff val="-476017"/>
                    <a:lumOff val="-10041"/>
                  </a:schemeClr>
                </a:solidFill>
              </a:rPr>
            </a:br>
            <a:endParaRPr>
              <a:solidFill>
                <a:schemeClr val="accent4">
                  <a:hueOff val="-476017"/>
                  <a:lumOff val="-10041"/>
                </a:schemeClr>
              </a:solidFill>
            </a:endParaRPr>
          </a:p>
        </p:txBody>
      </p:sp>
      <p:sp>
        <p:nvSpPr>
          <p:cNvPr id="237" name="线条"/>
          <p:cNvSpPr/>
          <p:nvPr/>
        </p:nvSpPr>
        <p:spPr>
          <a:xfrm>
            <a:off x="980998" y="2113068"/>
            <a:ext cx="12117571" cy="1"/>
          </a:xfrm>
          <a:prstGeom prst="line">
            <a:avLst/>
          </a:prstGeom>
          <a:ln w="25400">
            <a:solidFill>
              <a:srgbClr val="000000"/>
            </a:solidFill>
            <a:miter lim="400000"/>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9" name="表格 1"/>
          <p:cNvGraphicFramePr/>
          <p:nvPr/>
        </p:nvGraphicFramePr>
        <p:xfrm>
          <a:off x="2165439" y="3142800"/>
          <a:ext cx="16690697" cy="8949328"/>
        </p:xfrm>
        <a:graphic>
          <a:graphicData uri="http://schemas.openxmlformats.org/drawingml/2006/table">
            <a:tbl>
              <a:tblPr>
                <a:tableStyleId>{4C3C2611-4C71-4FC5-86AE-919BDF0F9419}</a:tableStyleId>
              </a:tblPr>
              <a:tblGrid>
                <a:gridCol w="1080882"/>
                <a:gridCol w="1867260"/>
                <a:gridCol w="9314332"/>
                <a:gridCol w="4415521"/>
              </a:tblGrid>
              <a:tr h="2234156">
                <a:tc>
                  <a:txBody>
                    <a:bodyPr/>
                    <a:lstStyle/>
                    <a:p>
                      <a:pPr algn="l" defTabSz="457200"/>
                      <a:r>
                        <a:rPr sz="2600">
                          <a:solidFill>
                            <a:srgbClr val="1B1C1D"/>
                          </a:solidFill>
                          <a:latin typeface="Helvetica"/>
                          <a:ea typeface="Helvetica"/>
                          <a:cs typeface="Helvetica"/>
                          <a:sym typeface="Helvetica"/>
                        </a:rPr>
                        <a:t>需求编号</a:t>
                      </a:r>
                      <a:endParaRPr sz="2600">
                        <a:solidFill>
                          <a:srgbClr val="1B1C1D"/>
                        </a:solidFill>
                        <a:latin typeface="Helvetica"/>
                        <a:ea typeface="Helvetica"/>
                        <a:cs typeface="Helvetica"/>
                        <a:sym typeface="Helvetica"/>
                      </a:endParaRPr>
                    </a:p>
                  </a:txBody>
                  <a:tcPr marL="152400" marR="152400" marT="101600" marB="101600" anchor="ctr" anchorCtr="0" horzOverflow="overflow">
                    <a:solidFill>
                      <a:srgbClr val="EFEFEF"/>
                    </a:solidFill>
                  </a:tcPr>
                </a:tc>
                <a:tc>
                  <a:txBody>
                    <a:bodyPr/>
                    <a:lstStyle/>
                    <a:p>
                      <a:pPr algn="l" defTabSz="457200"/>
                      <a:r>
                        <a:rPr sz="2600">
                          <a:solidFill>
                            <a:srgbClr val="1B1C1D"/>
                          </a:solidFill>
                          <a:latin typeface="Helvetica"/>
                          <a:ea typeface="Helvetica"/>
                          <a:cs typeface="Helvetica"/>
                          <a:sym typeface="Helvetica"/>
                        </a:rPr>
                        <a:t>需求名称</a:t>
                      </a:r>
                      <a:endParaRPr sz="2600">
                        <a:solidFill>
                          <a:srgbClr val="1B1C1D"/>
                        </a:solidFill>
                        <a:latin typeface="Helvetica"/>
                        <a:ea typeface="Helvetica"/>
                        <a:cs typeface="Helvetica"/>
                        <a:sym typeface="Helvetica"/>
                      </a:endParaRPr>
                    </a:p>
                  </a:txBody>
                  <a:tcPr marL="152400" marR="152400" marT="101600" marB="101600" anchor="ctr" anchorCtr="0" horzOverflow="overflow">
                    <a:solidFill>
                      <a:srgbClr val="EFEFEF"/>
                    </a:solidFill>
                  </a:tcPr>
                </a:tc>
                <a:tc>
                  <a:txBody>
                    <a:bodyPr/>
                    <a:lstStyle/>
                    <a:p>
                      <a:pPr algn="l" defTabSz="457200"/>
                      <a:r>
                        <a:rPr sz="2600">
                          <a:solidFill>
                            <a:srgbClr val="1B1C1D"/>
                          </a:solidFill>
                          <a:latin typeface="Helvetica"/>
                          <a:ea typeface="Helvetica"/>
                          <a:cs typeface="Helvetica"/>
                          <a:sym typeface="Helvetica"/>
                        </a:rPr>
                        <a:t>详细描述</a:t>
                      </a:r>
                      <a:endParaRPr sz="2600">
                        <a:solidFill>
                          <a:srgbClr val="1B1C1D"/>
                        </a:solidFill>
                        <a:latin typeface="Helvetica"/>
                        <a:ea typeface="Helvetica"/>
                        <a:cs typeface="Helvetica"/>
                        <a:sym typeface="Helvetica"/>
                      </a:endParaRPr>
                    </a:p>
                  </a:txBody>
                  <a:tcPr marL="152400" marR="152400" marT="101600" marB="101600" anchor="ctr" anchorCtr="0" horzOverflow="overflow">
                    <a:solidFill>
                      <a:srgbClr val="EFEFEF"/>
                    </a:solidFill>
                  </a:tcPr>
                </a:tc>
                <a:tc>
                  <a:txBody>
                    <a:bodyPr/>
                    <a:lstStyle/>
                    <a:p>
                      <a:pPr algn="l" defTabSz="457200"/>
                      <a:r>
                        <a:rPr sz="2600">
                          <a:solidFill>
                            <a:srgbClr val="1B1C1D"/>
                          </a:solidFill>
                          <a:latin typeface="Helvetica"/>
                          <a:ea typeface="Helvetica"/>
                          <a:cs typeface="Helvetica"/>
                          <a:sym typeface="Helvetica"/>
                        </a:rPr>
                        <a:t>技术实现</a:t>
                      </a:r>
                      <a:endParaRPr sz="2600">
                        <a:solidFill>
                          <a:srgbClr val="1B1C1D"/>
                        </a:solidFill>
                        <a:latin typeface="Helvetica"/>
                        <a:ea typeface="Helvetica"/>
                        <a:cs typeface="Helvetica"/>
                        <a:sym typeface="Helvetica"/>
                      </a:endParaRPr>
                    </a:p>
                  </a:txBody>
                  <a:tcPr marL="152400" marR="152400" marT="101600" marB="101600" anchor="ctr" anchorCtr="0" horzOverflow="overflow">
                    <a:solidFill>
                      <a:srgbClr val="EFEFEF"/>
                    </a:solidFill>
                  </a:tcPr>
                </a:tc>
              </a:tr>
              <a:tr h="2234156">
                <a:tc>
                  <a:txBody>
                    <a:bodyPr/>
                    <a:lstStyle/>
                    <a:p>
                      <a:pPr algn="r" defTabSz="457200"/>
                      <a:r>
                        <a:rPr sz="2600">
                          <a:solidFill>
                            <a:srgbClr val="1B1C1D"/>
                          </a:solidFill>
                          <a:latin typeface="Helvetica"/>
                          <a:ea typeface="Helvetica"/>
                          <a:cs typeface="Helvetica"/>
                          <a:sym typeface="Helvetica"/>
                        </a:rPr>
                        <a:t>2.1</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代码可视化编辑器</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提供一个基于 Web 的代码编辑界面，支持语法高亮等基础功能</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Vue3 + TypeScript + Monaco.js</a:t>
                      </a:r>
                      <a:endParaRPr sz="2600">
                        <a:solidFill>
                          <a:srgbClr val="1B1C1D"/>
                        </a:solidFill>
                        <a:latin typeface="Helvetica"/>
                        <a:ea typeface="Helvetica"/>
                        <a:cs typeface="Helvetica"/>
                        <a:sym typeface="Helvetica"/>
                      </a:endParaRPr>
                    </a:p>
                  </a:txBody>
                  <a:tcPr marL="152400" marR="152400" marT="101600" marB="101600" anchor="ctr" anchorCtr="0" horzOverflow="overflow"/>
                </a:tc>
              </a:tr>
              <a:tr h="2234156">
                <a:tc>
                  <a:txBody>
                    <a:bodyPr/>
                    <a:lstStyle/>
                    <a:p>
                      <a:pPr algn="r" defTabSz="457200"/>
                      <a:r>
                        <a:rPr sz="2600">
                          <a:solidFill>
                            <a:srgbClr val="1B1C1D"/>
                          </a:solidFill>
                          <a:latin typeface="Helvetica"/>
                          <a:ea typeface="Helvetica"/>
                          <a:cs typeface="Helvetica"/>
                          <a:sym typeface="Helvetica"/>
                        </a:rPr>
                        <a:t>2.2</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实时缺陷标注系统</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在代码编辑器中实时标注 AI 检测到的缺陷和建议</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D3.js</a:t>
                      </a:r>
                      <a:endParaRPr sz="2600">
                        <a:solidFill>
                          <a:srgbClr val="1B1C1D"/>
                        </a:solidFill>
                        <a:latin typeface="Helvetica"/>
                        <a:ea typeface="Helvetica"/>
                        <a:cs typeface="Helvetica"/>
                        <a:sym typeface="Helvetica"/>
                      </a:endParaRPr>
                    </a:p>
                  </a:txBody>
                  <a:tcPr marL="152400" marR="152400" marT="101600" marB="101600" anchor="ctr" anchorCtr="0" horzOverflow="overflow"/>
                </a:tc>
              </a:tr>
              <a:tr h="2234156">
                <a:tc>
                  <a:txBody>
                    <a:bodyPr/>
                    <a:lstStyle/>
                    <a:p>
                      <a:pPr algn="r" defTabSz="457200"/>
                      <a:r>
                        <a:rPr sz="2600">
                          <a:solidFill>
                            <a:srgbClr val="1B1C1D"/>
                          </a:solidFill>
                          <a:latin typeface="Helvetica"/>
                          <a:ea typeface="Helvetica"/>
                          <a:cs typeface="Helvetica"/>
                          <a:sym typeface="Helvetica"/>
                        </a:rPr>
                        <a:t>2.3</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团队协作看板</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实时展示所有待评审、评审中、已完成的 PR 或审查任务，提供在任务上添加评论和标签等基础功能</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Vue3 + TypeScript +
WebSocket进行实时同步</a:t>
                      </a:r>
                      <a:endParaRPr sz="2600">
                        <a:solidFill>
                          <a:srgbClr val="1B1C1D"/>
                        </a:solidFill>
                        <a:latin typeface="Helvetica"/>
                        <a:ea typeface="Helvetica"/>
                        <a:cs typeface="Helvetica"/>
                        <a:sym typeface="Helvetica"/>
                      </a:endParaRPr>
                    </a:p>
                  </a:txBody>
                  <a:tcPr marL="152400" marR="152400" marT="101600" marB="101600" anchor="ctr" anchorCtr="0" horzOverflow="overflow"/>
                </a:tc>
              </a:tr>
            </a:tbl>
          </a:graphicData>
        </a:graphic>
      </p:graphicFrame>
      <p:sp>
        <p:nvSpPr>
          <p:cNvPr id="240" name="3.3.2 前端用户交互模块功能需求"/>
          <p:cNvSpPr txBox="1"/>
          <p:nvPr/>
        </p:nvSpPr>
        <p:spPr>
          <a:xfrm>
            <a:off x="1209827" y="996735"/>
            <a:ext cx="8954721" cy="1591311"/>
          </a:xfrm>
          <a:prstGeom prst="rect">
            <a:avLst/>
          </a:prstGeom>
          <a:ln w="12700">
            <a:miter lim="400000"/>
          </a:ln>
        </p:spPr>
        <p:txBody>
          <a:bodyPr wrap="none" lIns="50800" tIns="50800" rIns="50800" bIns="50800" anchor="ctr">
            <a:spAutoFit/>
          </a:bodyPr>
          <a:lstStyle/>
          <a:p>
            <a:r>
              <a:t>3.3.2 </a:t>
            </a:r>
            <a:r>
              <a:rPr>
                <a:solidFill>
                  <a:schemeClr val="accent3">
                    <a:hueOff val="914338"/>
                    <a:satOff val="31515"/>
                    <a:lumOff val="-30789"/>
                  </a:schemeClr>
                </a:solidFill>
              </a:rPr>
              <a:t>前端用户交互</a:t>
            </a:r>
            <a:r>
              <a:t>模块功能需求</a:t>
            </a:r>
            <a:br>
              <a:rPr>
                <a:solidFill>
                  <a:schemeClr val="accent4">
                    <a:hueOff val="-476017"/>
                    <a:lumOff val="-10041"/>
                  </a:schemeClr>
                </a:solidFill>
              </a:rPr>
            </a:br>
            <a:endParaRPr>
              <a:solidFill>
                <a:schemeClr val="accent4">
                  <a:hueOff val="-476017"/>
                  <a:lumOff val="-10041"/>
                </a:schemeClr>
              </a:solidFill>
            </a:endParaRPr>
          </a:p>
        </p:txBody>
      </p:sp>
      <p:sp>
        <p:nvSpPr>
          <p:cNvPr id="241" name="线条"/>
          <p:cNvSpPr/>
          <p:nvPr/>
        </p:nvSpPr>
        <p:spPr>
          <a:xfrm>
            <a:off x="980998" y="2113068"/>
            <a:ext cx="12117571" cy="1"/>
          </a:xfrm>
          <a:prstGeom prst="line">
            <a:avLst/>
          </a:prstGeom>
          <a:ln w="25400">
            <a:solidFill>
              <a:srgbClr val="000000"/>
            </a:solidFill>
            <a:miter lim="400000"/>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3" name="表格 1"/>
          <p:cNvGraphicFramePr/>
          <p:nvPr/>
        </p:nvGraphicFramePr>
        <p:xfrm>
          <a:off x="2165439" y="3142800"/>
          <a:ext cx="16690697" cy="8949328"/>
        </p:xfrm>
        <a:graphic>
          <a:graphicData uri="http://schemas.openxmlformats.org/drawingml/2006/table">
            <a:tbl>
              <a:tblPr>
                <a:tableStyleId>{4C3C2611-4C71-4FC5-86AE-919BDF0F9419}</a:tableStyleId>
              </a:tblPr>
              <a:tblGrid>
                <a:gridCol w="1080882"/>
                <a:gridCol w="1867260"/>
                <a:gridCol w="9314332"/>
                <a:gridCol w="4415521"/>
              </a:tblGrid>
              <a:tr h="2234156">
                <a:tc>
                  <a:txBody>
                    <a:bodyPr/>
                    <a:lstStyle/>
                    <a:p>
                      <a:pPr algn="l" defTabSz="457200"/>
                      <a:r>
                        <a:rPr sz="2600">
                          <a:solidFill>
                            <a:srgbClr val="1B1C1D"/>
                          </a:solidFill>
                          <a:latin typeface="Helvetica"/>
                          <a:ea typeface="Helvetica"/>
                          <a:cs typeface="Helvetica"/>
                          <a:sym typeface="Helvetica"/>
                        </a:rPr>
                        <a:t>需求编号</a:t>
                      </a:r>
                      <a:endParaRPr sz="2600">
                        <a:solidFill>
                          <a:srgbClr val="1B1C1D"/>
                        </a:solidFill>
                        <a:latin typeface="Helvetica"/>
                        <a:ea typeface="Helvetica"/>
                        <a:cs typeface="Helvetica"/>
                        <a:sym typeface="Helvetica"/>
                      </a:endParaRPr>
                    </a:p>
                  </a:txBody>
                  <a:tcPr marL="152400" marR="152400" marT="101600" marB="101600" anchor="ctr" anchorCtr="0" horzOverflow="overflow">
                    <a:solidFill>
                      <a:srgbClr val="EFEFEF"/>
                    </a:solidFill>
                  </a:tcPr>
                </a:tc>
                <a:tc>
                  <a:txBody>
                    <a:bodyPr/>
                    <a:lstStyle/>
                    <a:p>
                      <a:pPr algn="l" defTabSz="457200"/>
                      <a:r>
                        <a:rPr sz="2600">
                          <a:solidFill>
                            <a:srgbClr val="1B1C1D"/>
                          </a:solidFill>
                          <a:latin typeface="Helvetica"/>
                          <a:ea typeface="Helvetica"/>
                          <a:cs typeface="Helvetica"/>
                          <a:sym typeface="Helvetica"/>
                        </a:rPr>
                        <a:t>需求名称</a:t>
                      </a:r>
                      <a:endParaRPr sz="2600">
                        <a:solidFill>
                          <a:srgbClr val="1B1C1D"/>
                        </a:solidFill>
                        <a:latin typeface="Helvetica"/>
                        <a:ea typeface="Helvetica"/>
                        <a:cs typeface="Helvetica"/>
                        <a:sym typeface="Helvetica"/>
                      </a:endParaRPr>
                    </a:p>
                  </a:txBody>
                  <a:tcPr marL="152400" marR="152400" marT="101600" marB="101600" anchor="ctr" anchorCtr="0" horzOverflow="overflow">
                    <a:solidFill>
                      <a:srgbClr val="EFEFEF"/>
                    </a:solidFill>
                  </a:tcPr>
                </a:tc>
                <a:tc>
                  <a:txBody>
                    <a:bodyPr/>
                    <a:lstStyle/>
                    <a:p>
                      <a:pPr algn="l" defTabSz="457200"/>
                      <a:r>
                        <a:rPr sz="2600">
                          <a:solidFill>
                            <a:srgbClr val="1B1C1D"/>
                          </a:solidFill>
                          <a:latin typeface="Helvetica"/>
                          <a:ea typeface="Helvetica"/>
                          <a:cs typeface="Helvetica"/>
                          <a:sym typeface="Helvetica"/>
                        </a:rPr>
                        <a:t>详细描述</a:t>
                      </a:r>
                      <a:endParaRPr sz="2600">
                        <a:solidFill>
                          <a:srgbClr val="1B1C1D"/>
                        </a:solidFill>
                        <a:latin typeface="Helvetica"/>
                        <a:ea typeface="Helvetica"/>
                        <a:cs typeface="Helvetica"/>
                        <a:sym typeface="Helvetica"/>
                      </a:endParaRPr>
                    </a:p>
                  </a:txBody>
                  <a:tcPr marL="152400" marR="152400" marT="101600" marB="101600" anchor="ctr" anchorCtr="0" horzOverflow="overflow">
                    <a:solidFill>
                      <a:srgbClr val="EFEFEF"/>
                    </a:solidFill>
                  </a:tcPr>
                </a:tc>
                <a:tc>
                  <a:txBody>
                    <a:bodyPr/>
                    <a:lstStyle/>
                    <a:p>
                      <a:pPr algn="l" defTabSz="457200"/>
                      <a:r>
                        <a:rPr sz="2600">
                          <a:solidFill>
                            <a:srgbClr val="1B1C1D"/>
                          </a:solidFill>
                          <a:latin typeface="Helvetica"/>
                          <a:ea typeface="Helvetica"/>
                          <a:cs typeface="Helvetica"/>
                          <a:sym typeface="Helvetica"/>
                        </a:rPr>
                        <a:t>技术实现</a:t>
                      </a:r>
                      <a:endParaRPr sz="2600">
                        <a:solidFill>
                          <a:srgbClr val="1B1C1D"/>
                        </a:solidFill>
                        <a:latin typeface="Helvetica"/>
                        <a:ea typeface="Helvetica"/>
                        <a:cs typeface="Helvetica"/>
                        <a:sym typeface="Helvetica"/>
                      </a:endParaRPr>
                    </a:p>
                  </a:txBody>
                  <a:tcPr marL="152400" marR="152400" marT="101600" marB="101600" anchor="ctr" anchorCtr="0" horzOverflow="overflow">
                    <a:solidFill>
                      <a:srgbClr val="EFEFEF"/>
                    </a:solidFill>
                  </a:tcPr>
                </a:tc>
              </a:tr>
              <a:tr h="2234156">
                <a:tc>
                  <a:txBody>
                    <a:bodyPr/>
                    <a:lstStyle/>
                    <a:p>
                      <a:pPr algn="r" defTabSz="457200"/>
                      <a:r>
                        <a:rPr sz="2600">
                          <a:solidFill>
                            <a:srgbClr val="1B1C1D"/>
                          </a:solidFill>
                          <a:latin typeface="Helvetica"/>
                          <a:ea typeface="Helvetica"/>
                          <a:cs typeface="Helvetica"/>
                          <a:sym typeface="Helvetica"/>
                        </a:rPr>
                        <a:t>3.1</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代码特征提取</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具备基于抽象语法树（AST）解析的代码特征提取能力，作为深度学习模型的输入。</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抽象语法树（AST）</a:t>
                      </a:r>
                      <a:endParaRPr sz="2600">
                        <a:solidFill>
                          <a:srgbClr val="1B1C1D"/>
                        </a:solidFill>
                        <a:latin typeface="Helvetica"/>
                        <a:ea typeface="Helvetica"/>
                        <a:cs typeface="Helvetica"/>
                        <a:sym typeface="Helvetica"/>
                      </a:endParaRPr>
                    </a:p>
                  </a:txBody>
                  <a:tcPr marL="152400" marR="152400" marT="101600" marB="101600" anchor="ctr" anchorCtr="0" horzOverflow="overflow"/>
                </a:tc>
              </a:tr>
              <a:tr h="2234156">
                <a:tc>
                  <a:txBody>
                    <a:bodyPr/>
                    <a:lstStyle/>
                    <a:p>
                      <a:pPr algn="r" defTabSz="457200"/>
                      <a:r>
                        <a:rPr sz="2600">
                          <a:solidFill>
                            <a:srgbClr val="1B1C1D"/>
                          </a:solidFill>
                          <a:latin typeface="Helvetica"/>
                          <a:ea typeface="Helvetica"/>
                          <a:cs typeface="Helvetica"/>
                          <a:sym typeface="Helvetica"/>
                        </a:rPr>
                        <a:t>3.2</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模型服务管理</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提供API 接口用于管理、调用和部署深度学习模型服务</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PyTorch/TensorFlow + Flask</a:t>
                      </a:r>
                      <a:endParaRPr sz="2600">
                        <a:solidFill>
                          <a:srgbClr val="1B1C1D"/>
                        </a:solidFill>
                        <a:latin typeface="Helvetica"/>
                        <a:ea typeface="Helvetica"/>
                        <a:cs typeface="Helvetica"/>
                        <a:sym typeface="Helvetica"/>
                      </a:endParaRPr>
                    </a:p>
                  </a:txBody>
                  <a:tcPr marL="152400" marR="152400" marT="101600" marB="101600" anchor="ctr" anchorCtr="0" horzOverflow="overflow"/>
                </a:tc>
              </a:tr>
              <a:tr h="2234156">
                <a:tc>
                  <a:txBody>
                    <a:bodyPr/>
                    <a:lstStyle/>
                    <a:p>
                      <a:pPr algn="r" defTabSz="457200"/>
                      <a:r>
                        <a:rPr sz="2600">
                          <a:solidFill>
                            <a:srgbClr val="1B1C1D"/>
                          </a:solidFill>
                          <a:latin typeface="Helvetica"/>
                          <a:ea typeface="Helvetica"/>
                          <a:cs typeface="Helvetica"/>
                          <a:sym typeface="Helvetica"/>
                        </a:rPr>
                        <a:t>3.3</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评审流程管理</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针对耗时的任务采用异步任务队列进行管理</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Celery 异步任务队列</a:t>
                      </a:r>
                      <a:endParaRPr sz="2600">
                        <a:solidFill>
                          <a:srgbClr val="1B1C1D"/>
                        </a:solidFill>
                        <a:latin typeface="Helvetica"/>
                        <a:ea typeface="Helvetica"/>
                        <a:cs typeface="Helvetica"/>
                        <a:sym typeface="Helvetica"/>
                      </a:endParaRPr>
                    </a:p>
                  </a:txBody>
                  <a:tcPr marL="152400" marR="152400" marT="101600" marB="101600" anchor="ctr" anchorCtr="0" horzOverflow="overflow"/>
                </a:tc>
              </a:tr>
            </a:tbl>
          </a:graphicData>
        </a:graphic>
      </p:graphicFrame>
      <p:sp>
        <p:nvSpPr>
          <p:cNvPr id="244" name="3.3.3 后端流程管理模块功能需求"/>
          <p:cNvSpPr txBox="1"/>
          <p:nvPr/>
        </p:nvSpPr>
        <p:spPr>
          <a:xfrm>
            <a:off x="1209827" y="996735"/>
            <a:ext cx="8954721" cy="1591311"/>
          </a:xfrm>
          <a:prstGeom prst="rect">
            <a:avLst/>
          </a:prstGeom>
          <a:ln w="12700">
            <a:miter lim="400000"/>
          </a:ln>
        </p:spPr>
        <p:txBody>
          <a:bodyPr wrap="none" lIns="50800" tIns="50800" rIns="50800" bIns="50800" anchor="ctr">
            <a:spAutoFit/>
          </a:bodyPr>
          <a:lstStyle/>
          <a:p>
            <a:r>
              <a:t>3.3.3 </a:t>
            </a:r>
            <a:r>
              <a:rPr>
                <a:solidFill>
                  <a:schemeClr val="accent1">
                    <a:lumOff val="-13574"/>
                  </a:schemeClr>
                </a:solidFill>
              </a:rPr>
              <a:t>后端流程管理</a:t>
            </a:r>
            <a:r>
              <a:t>模块功能需求</a:t>
            </a:r>
            <a:br>
              <a:rPr>
                <a:solidFill>
                  <a:schemeClr val="accent4">
                    <a:hueOff val="-476017"/>
                    <a:lumOff val="-10041"/>
                  </a:schemeClr>
                </a:solidFill>
              </a:rPr>
            </a:br>
            <a:endParaRPr>
              <a:solidFill>
                <a:schemeClr val="accent4">
                  <a:hueOff val="-476017"/>
                  <a:lumOff val="-10041"/>
                </a:schemeClr>
              </a:solidFill>
            </a:endParaRPr>
          </a:p>
        </p:txBody>
      </p:sp>
      <p:sp>
        <p:nvSpPr>
          <p:cNvPr id="245" name="线条"/>
          <p:cNvSpPr/>
          <p:nvPr/>
        </p:nvSpPr>
        <p:spPr>
          <a:xfrm>
            <a:off x="980998" y="2113068"/>
            <a:ext cx="12117571" cy="1"/>
          </a:xfrm>
          <a:prstGeom prst="line">
            <a:avLst/>
          </a:prstGeom>
          <a:ln w="25400">
            <a:solidFill>
              <a:srgbClr val="000000"/>
            </a:solidFill>
            <a:miter lim="400000"/>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3.4 非功能需求"/>
          <p:cNvSpPr txBox="1"/>
          <p:nvPr/>
        </p:nvSpPr>
        <p:spPr>
          <a:xfrm>
            <a:off x="1485899" y="1638497"/>
            <a:ext cx="6007101" cy="952501"/>
          </a:xfrm>
          <a:prstGeom prst="rect">
            <a:avLst/>
          </a:prstGeom>
          <a:ln w="12700">
            <a:miter lim="400000"/>
          </a:ln>
        </p:spPr>
        <p:txBody>
          <a:bodyPr lIns="50800" tIns="50800" rIns="50800" bIns="50800" anchor="ctr">
            <a:spAutoFit/>
          </a:bodyPr>
          <a:lstStyle/>
          <a:p>
            <a:r>
              <a:t>3.4 非功能需求</a:t>
            </a:r>
          </a:p>
        </p:txBody>
      </p:sp>
      <p:graphicFrame>
        <p:nvGraphicFramePr>
          <p:cNvPr id="248" name="表格 1"/>
          <p:cNvGraphicFramePr/>
          <p:nvPr/>
        </p:nvGraphicFramePr>
        <p:xfrm>
          <a:off x="2165439" y="3142800"/>
          <a:ext cx="16690697" cy="8949328"/>
        </p:xfrm>
        <a:graphic>
          <a:graphicData uri="http://schemas.openxmlformats.org/drawingml/2006/table">
            <a:tbl>
              <a:tblPr>
                <a:tableStyleId>{4C3C2611-4C71-4FC5-86AE-919BDF0F9419}</a:tableStyleId>
              </a:tblPr>
              <a:tblGrid>
                <a:gridCol w="1470091"/>
                <a:gridCol w="2539630"/>
                <a:gridCol w="12668274"/>
              </a:tblGrid>
              <a:tr h="1787325">
                <a:tc>
                  <a:txBody>
                    <a:bodyPr/>
                    <a:lstStyle/>
                    <a:p>
                      <a:pPr algn="l" defTabSz="457200"/>
                      <a:r>
                        <a:rPr sz="2600">
                          <a:solidFill>
                            <a:srgbClr val="1B1C1D"/>
                          </a:solidFill>
                          <a:latin typeface="Helvetica"/>
                          <a:ea typeface="Helvetica"/>
                          <a:cs typeface="Helvetica"/>
                          <a:sym typeface="Helvetica"/>
                        </a:rPr>
                        <a:t>需求 编号</a:t>
                      </a:r>
                      <a:endParaRPr sz="2600">
                        <a:solidFill>
                          <a:srgbClr val="1B1C1D"/>
                        </a:solidFill>
                        <a:latin typeface="Helvetica"/>
                        <a:ea typeface="Helvetica"/>
                        <a:cs typeface="Helvetica"/>
                        <a:sym typeface="Helvetica"/>
                      </a:endParaRPr>
                    </a:p>
                  </a:txBody>
                  <a:tcPr marL="152400" marR="152400" marT="101600" marB="101600" anchor="ctr" anchorCtr="0" horzOverflow="overflow">
                    <a:solidFill>
                      <a:srgbClr val="EFEFEF"/>
                    </a:solidFill>
                  </a:tcPr>
                </a:tc>
                <a:tc>
                  <a:txBody>
                    <a:bodyPr/>
                    <a:lstStyle/>
                    <a:p>
                      <a:pPr algn="l" defTabSz="457200"/>
                      <a:r>
                        <a:rPr sz="2600">
                          <a:solidFill>
                            <a:srgbClr val="1B1C1D"/>
                          </a:solidFill>
                          <a:latin typeface="Helvetica"/>
                          <a:ea typeface="Helvetica"/>
                          <a:cs typeface="Helvetica"/>
                          <a:sym typeface="Helvetica"/>
                        </a:rPr>
                        <a:t>需求名称</a:t>
                      </a:r>
                      <a:endParaRPr sz="2600">
                        <a:solidFill>
                          <a:srgbClr val="1B1C1D"/>
                        </a:solidFill>
                        <a:latin typeface="Helvetica"/>
                        <a:ea typeface="Helvetica"/>
                        <a:cs typeface="Helvetica"/>
                        <a:sym typeface="Helvetica"/>
                      </a:endParaRPr>
                    </a:p>
                  </a:txBody>
                  <a:tcPr marL="152400" marR="152400" marT="101600" marB="101600" anchor="ctr" anchorCtr="0" horzOverflow="overflow">
                    <a:solidFill>
                      <a:srgbClr val="EFEFEF"/>
                    </a:solidFill>
                  </a:tcPr>
                </a:tc>
                <a:tc>
                  <a:txBody>
                    <a:bodyPr/>
                    <a:lstStyle/>
                    <a:p>
                      <a:pPr algn="l" defTabSz="457200"/>
                      <a:r>
                        <a:rPr sz="2600">
                          <a:solidFill>
                            <a:srgbClr val="1B1C1D"/>
                          </a:solidFill>
                          <a:latin typeface="Helvetica"/>
                          <a:ea typeface="Helvetica"/>
                          <a:cs typeface="Helvetica"/>
                          <a:sym typeface="Helvetica"/>
                        </a:rPr>
                        <a:t>详细描述</a:t>
                      </a:r>
                      <a:endParaRPr sz="2600">
                        <a:solidFill>
                          <a:srgbClr val="1B1C1D"/>
                        </a:solidFill>
                        <a:latin typeface="Helvetica"/>
                        <a:ea typeface="Helvetica"/>
                        <a:cs typeface="Helvetica"/>
                        <a:sym typeface="Helvetica"/>
                      </a:endParaRPr>
                    </a:p>
                  </a:txBody>
                  <a:tcPr marL="152400" marR="152400" marT="101600" marB="101600" anchor="ctr" anchorCtr="0" horzOverflow="overflow">
                    <a:solidFill>
                      <a:srgbClr val="EFEFEF"/>
                    </a:solidFill>
                  </a:tcPr>
                </a:tc>
              </a:tr>
              <a:tr h="1787325">
                <a:tc>
                  <a:txBody>
                    <a:bodyPr/>
                    <a:lstStyle/>
                    <a:p>
                      <a:pPr algn="r" defTabSz="457200"/>
                      <a:r>
                        <a:rPr sz="2600">
                          <a:solidFill>
                            <a:srgbClr val="1B1C1D"/>
                          </a:solidFill>
                          <a:latin typeface="Helvetica"/>
                          <a:ea typeface="Helvetica"/>
                          <a:cs typeface="Helvetica"/>
                          <a:sym typeface="Helvetica"/>
                        </a:rPr>
                        <a:t>4.1</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性能</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代码审查的响应时间</a:t>
                      </a:r>
                      <a:endParaRPr sz="2600">
                        <a:solidFill>
                          <a:srgbClr val="1B1C1D"/>
                        </a:solidFill>
                        <a:latin typeface="Helvetica"/>
                        <a:ea typeface="Helvetica"/>
                        <a:cs typeface="Helvetica"/>
                        <a:sym typeface="Helvetica"/>
                      </a:endParaRPr>
                    </a:p>
                  </a:txBody>
                  <a:tcPr marL="152400" marR="152400" marT="101600" marB="101600" anchor="ctr" anchorCtr="0" horzOverflow="overflow"/>
                </a:tc>
              </a:tr>
              <a:tr h="1787325">
                <a:tc>
                  <a:txBody>
                    <a:bodyPr/>
                    <a:lstStyle/>
                    <a:p>
                      <a:pPr algn="r" defTabSz="457200"/>
                      <a:r>
                        <a:rPr sz="2600">
                          <a:solidFill>
                            <a:srgbClr val="1B1C1D"/>
                          </a:solidFill>
                          <a:latin typeface="Helvetica"/>
                          <a:ea typeface="Helvetica"/>
                          <a:cs typeface="Helvetica"/>
                          <a:sym typeface="Helvetica"/>
                        </a:rPr>
                        <a:t>4.2</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可靠性</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代码缺陷检测的准确率和修改意见的可读性和有效性</a:t>
                      </a:r>
                      <a:endParaRPr sz="2600">
                        <a:solidFill>
                          <a:srgbClr val="1B1C1D"/>
                        </a:solidFill>
                        <a:latin typeface="Helvetica"/>
                        <a:ea typeface="Helvetica"/>
                        <a:cs typeface="Helvetica"/>
                        <a:sym typeface="Helvetica"/>
                      </a:endParaRPr>
                    </a:p>
                  </a:txBody>
                  <a:tcPr marL="152400" marR="152400" marT="101600" marB="101600" anchor="ctr" anchorCtr="0" horzOverflow="overflow"/>
                </a:tc>
              </a:tr>
              <a:tr h="1787325">
                <a:tc>
                  <a:txBody>
                    <a:bodyPr/>
                    <a:lstStyle/>
                    <a:p>
                      <a:pPr algn="r" defTabSz="457200"/>
                      <a:r>
                        <a:rPr sz="2600">
                          <a:solidFill>
                            <a:srgbClr val="1B1C1D"/>
                          </a:solidFill>
                          <a:latin typeface="Helvetica"/>
                          <a:ea typeface="Helvetica"/>
                          <a:cs typeface="Helvetica"/>
                          <a:sym typeface="Helvetica"/>
                        </a:rPr>
                        <a:t>4.3</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可扩展性</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后续支持集成新的深度学习模型或新的编程语言</a:t>
                      </a:r>
                      <a:endParaRPr sz="2600">
                        <a:solidFill>
                          <a:srgbClr val="1B1C1D"/>
                        </a:solidFill>
                        <a:latin typeface="Helvetica"/>
                        <a:ea typeface="Helvetica"/>
                        <a:cs typeface="Helvetica"/>
                        <a:sym typeface="Helvetica"/>
                      </a:endParaRPr>
                    </a:p>
                  </a:txBody>
                  <a:tcPr marL="152400" marR="152400" marT="101600" marB="101600" anchor="ctr" anchorCtr="0" horzOverflow="overflow"/>
                </a:tc>
              </a:tr>
              <a:tr h="1787325">
                <a:tc>
                  <a:txBody>
                    <a:bodyPr/>
                    <a:lstStyle/>
                    <a:p>
                      <a:pPr algn="r" defTabSz="457200"/>
                      <a:r>
                        <a:rPr sz="2600">
                          <a:solidFill>
                            <a:srgbClr val="1B1C1D"/>
                          </a:solidFill>
                          <a:latin typeface="Helvetica"/>
                          <a:ea typeface="Helvetica"/>
                          <a:cs typeface="Helvetica"/>
                          <a:sym typeface="Helvetica"/>
                        </a:rPr>
                        <a:t>4.4</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可维护性</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sz="2600">
                          <a:solidFill>
                            <a:srgbClr val="1B1C1D"/>
                          </a:solidFill>
                          <a:latin typeface="Helvetica"/>
                          <a:ea typeface="Helvetica"/>
                          <a:cs typeface="Helvetica"/>
                          <a:sym typeface="Helvetica"/>
                        </a:rPr>
                        <a:t>后端代码须遵循 Python 编码规范，并提供清晰的 API 文档</a:t>
                      </a:r>
                      <a:endParaRPr sz="2600">
                        <a:solidFill>
                          <a:srgbClr val="1B1C1D"/>
                        </a:solidFill>
                        <a:latin typeface="Helvetica"/>
                        <a:ea typeface="Helvetica"/>
                        <a:cs typeface="Helvetica"/>
                        <a:sym typeface="Helvetica"/>
                      </a:endParaRPr>
                    </a:p>
                  </a:txBody>
                  <a:tcPr marL="152400" marR="152400" marT="101600" marB="101600" anchor="ctr" anchorCtr="0" horzOverflow="overflow"/>
                </a:tc>
              </a:tr>
            </a:tbl>
          </a:graphicData>
        </a:graphic>
      </p:graphicFrame>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50" name="TextBox 2"/>
          <p:cNvSpPr txBox="1"/>
          <p:nvPr/>
        </p:nvSpPr>
        <p:spPr>
          <a:xfrm>
            <a:off x="23320650" y="12549699"/>
            <a:ext cx="196343" cy="455247"/>
          </a:xfrm>
          <a:prstGeom prst="rect">
            <a:avLst/>
          </a:prstGeom>
          <a:ln w="12700">
            <a:miter lim="400000"/>
          </a:ln>
        </p:spPr>
        <p:txBody>
          <a:bodyPr wrap="none" lIns="0" tIns="0" rIns="0" bIns="0">
            <a:spAutoFit/>
          </a:bodyPr>
          <a:lstStyle>
            <a:lvl1pPr algn="r" defTabSz="1219200">
              <a:lnSpc>
                <a:spcPts val="3700"/>
              </a:lnSpc>
              <a:spcBef>
                <a:spcPts val="0"/>
              </a:spcBef>
              <a:defRPr sz="2600">
                <a:solidFill>
                  <a:srgbClr val="333333"/>
                </a:solidFill>
                <a:latin typeface="Raleway"/>
                <a:ea typeface="Raleway"/>
                <a:cs typeface="Raleway"/>
                <a:sym typeface="Raleway"/>
              </a:defRPr>
            </a:lvl1pPr>
          </a:lstStyle>
          <a:p>
            <a:r>
              <a:t>3</a:t>
            </a:r>
          </a:p>
        </p:txBody>
      </p:sp>
      <p:sp>
        <p:nvSpPr>
          <p:cNvPr id="251" name="AutoShape 3"/>
          <p:cNvSpPr/>
          <p:nvPr/>
        </p:nvSpPr>
        <p:spPr>
          <a:xfrm>
            <a:off x="1908938" y="12814300"/>
            <a:ext cx="20832615" cy="0"/>
          </a:xfrm>
          <a:prstGeom prst="line">
            <a:avLst/>
          </a:prstGeom>
          <a:ln w="25400">
            <a:solidFill>
              <a:srgbClr val="375A7F"/>
            </a:solidFill>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
        <p:nvSpPr>
          <p:cNvPr id="252" name="Freeform 4"/>
          <p:cNvSpPr/>
          <p:nvPr/>
        </p:nvSpPr>
        <p:spPr>
          <a:xfrm>
            <a:off x="895349" y="12517179"/>
            <a:ext cx="594245" cy="594244"/>
          </a:xfrm>
          <a:prstGeom prst="rect">
            <a:avLst/>
          </a:prstGeom>
          <a:blipFill>
            <a:blip r:embed="rId1"/>
            <a:stretch>
              <a:fillRect/>
            </a:stretch>
          </a:blipFill>
          <a:ln w="12700">
            <a:miter lim="400000"/>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
        <p:nvSpPr>
          <p:cNvPr id="253" name="04 研究方法与技术路线"/>
          <p:cNvSpPr txBox="1"/>
          <p:nvPr/>
        </p:nvSpPr>
        <p:spPr>
          <a:xfrm>
            <a:off x="3134714" y="3895923"/>
            <a:ext cx="9507221" cy="2687321"/>
          </a:xfrm>
          <a:prstGeom prst="rect">
            <a:avLst/>
          </a:prstGeom>
          <a:ln w="12700">
            <a:miter lim="400000"/>
          </a:ln>
        </p:spPr>
        <p:txBody>
          <a:bodyPr wrap="none" lIns="60959" tIns="60959" rIns="60959" bIns="60959">
            <a:spAutoFit/>
          </a:bodyPr>
          <a:lstStyle>
            <a:lvl1pPr defTabSz="609600">
              <a:lnSpc>
                <a:spcPct val="100000"/>
              </a:lnSpc>
              <a:spcBef>
                <a:spcPts val="1600"/>
              </a:spcBef>
              <a:defRPr sz="7200" b="1">
                <a:solidFill>
                  <a:srgbClr val="242424"/>
                </a:solidFill>
                <a:latin typeface="Times Roman"/>
                <a:ea typeface="Times Roman"/>
                <a:cs typeface="Times Roman"/>
                <a:sym typeface="Times Roman"/>
              </a:defRPr>
            </a:lvl1pPr>
          </a:lstStyle>
          <a:p>
            <a:r>
              <a:t>04 研究方法与技术路线</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590675" y="2969895"/>
            <a:ext cx="1299845" cy="38481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t" forceAA="0" upright="0">
            <a:noAutofit/>
          </a:bodyPr>
          <a:p>
            <a:pPr marL="0" marR="0" indent="0" algn="l" defTabSz="2438400" rtl="0" fontAlgn="auto" latinLnBrk="0" hangingPunct="0">
              <a:lnSpc>
                <a:spcPct val="90000"/>
              </a:lnSpc>
              <a:spcBef>
                <a:spcPts val="4500"/>
              </a:spcBef>
              <a:spcAft>
                <a:spcPts val="0"/>
              </a:spcAft>
              <a:buClrTx/>
              <a:buSzTx/>
              <a:buFontTx/>
              <a:buNone/>
            </a:pPr>
            <a:r>
              <a:rPr kumimoji="0" lang="zh-CN" altLang="en-US" sz="4800" b="0" i="0" u="none" strike="noStrike" cap="none" spc="0" normalizeH="0" baseline="0">
                <a:ln>
                  <a:noFill/>
                </a:ln>
                <a:solidFill>
                  <a:srgbClr val="000000"/>
                </a:solidFill>
                <a:effectLst/>
                <a:uFillTx/>
                <a:latin typeface="+mn-lt"/>
                <a:ea typeface="+mn-ea"/>
                <a:cs typeface="+mn-cs"/>
                <a:sym typeface="Helvetica Neue"/>
              </a:rPr>
              <a:t>系统总体架构图</a:t>
            </a:r>
            <a:endParaRPr kumimoji="0" lang="zh-CN" altLang="en-US" sz="4800" b="0" i="0" u="none" strike="noStrike" cap="none" spc="0" normalizeH="0" baseline="0">
              <a:ln>
                <a:noFill/>
              </a:ln>
              <a:solidFill>
                <a:srgbClr val="000000"/>
              </a:solidFill>
              <a:effectLst/>
              <a:uFillTx/>
              <a:latin typeface="+mn-lt"/>
              <a:ea typeface="+mn-ea"/>
              <a:cs typeface="+mn-cs"/>
              <a:sym typeface="Helvetica Neue"/>
            </a:endParaRPr>
          </a:p>
        </p:txBody>
      </p:sp>
      <p:pic>
        <p:nvPicPr>
          <p:cNvPr id="7" name="图片 6" descr="系统框架图"/>
          <p:cNvPicPr>
            <a:picLocks noChangeAspect="1"/>
          </p:cNvPicPr>
          <p:nvPr/>
        </p:nvPicPr>
        <p:blipFill>
          <a:blip r:embed="rId1"/>
          <a:stretch>
            <a:fillRect/>
          </a:stretch>
        </p:blipFill>
        <p:spPr>
          <a:xfrm>
            <a:off x="3556635" y="-54610"/>
            <a:ext cx="20827365" cy="13716000"/>
          </a:xfrm>
          <a:prstGeom prst="rect">
            <a:avLst/>
          </a:prstGeom>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关键技术实现方法初步构想"/>
          <p:cNvSpPr txBox="1"/>
          <p:nvPr/>
        </p:nvSpPr>
        <p:spPr>
          <a:xfrm>
            <a:off x="1213122" y="907357"/>
            <a:ext cx="7449821" cy="1417321"/>
          </a:xfrm>
          <a:prstGeom prst="rect">
            <a:avLst/>
          </a:prstGeom>
          <a:ln w="12700">
            <a:miter lim="400000"/>
          </a:ln>
        </p:spPr>
        <p:txBody>
          <a:bodyPr wrap="none" lIns="60959" tIns="60959" rIns="60959" bIns="60959">
            <a:spAutoFit/>
          </a:bodyPr>
          <a:lstStyle>
            <a:lvl1pPr defTabSz="609600">
              <a:lnSpc>
                <a:spcPct val="100000"/>
              </a:lnSpc>
              <a:spcBef>
                <a:spcPts val="1600"/>
              </a:spcBef>
              <a:defRPr b="1">
                <a:solidFill>
                  <a:srgbClr val="242424"/>
                </a:solidFill>
                <a:latin typeface="Times Roman"/>
                <a:ea typeface="Times Roman"/>
                <a:cs typeface="Times Roman"/>
                <a:sym typeface="Times Roman"/>
              </a:defRPr>
            </a:lvl1pPr>
          </a:lstStyle>
          <a:p>
            <a:r>
              <a:t>关键技术实现方法初步构想</a:t>
            </a:r>
            <a:endParaRPr sz="1600" b="0">
              <a:solidFill>
                <a:srgbClr val="000000"/>
              </a:solidFill>
            </a:endParaRPr>
          </a:p>
        </p:txBody>
      </p:sp>
      <p:sp>
        <p:nvSpPr>
          <p:cNvPr id="264" name="线条"/>
          <p:cNvSpPr/>
          <p:nvPr/>
        </p:nvSpPr>
        <p:spPr>
          <a:xfrm>
            <a:off x="865871" y="2619629"/>
            <a:ext cx="12117570" cy="1"/>
          </a:xfrm>
          <a:prstGeom prst="line">
            <a:avLst/>
          </a:prstGeom>
          <a:ln w="25400">
            <a:solidFill>
              <a:srgbClr val="000000"/>
            </a:solidFill>
            <a:miter lim="400000"/>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graphicFrame>
        <p:nvGraphicFramePr>
          <p:cNvPr id="265" name="表格 1"/>
          <p:cNvGraphicFramePr/>
          <p:nvPr/>
        </p:nvGraphicFramePr>
        <p:xfrm>
          <a:off x="2165439" y="3142800"/>
          <a:ext cx="16690697" cy="8949328"/>
        </p:xfrm>
        <a:graphic>
          <a:graphicData uri="http://schemas.openxmlformats.org/drawingml/2006/table">
            <a:tbl>
              <a:tblPr>
                <a:tableStyleId>{4C3C2611-4C71-4FC5-86AE-919BDF0F9419}</a:tableStyleId>
              </a:tblPr>
              <a:tblGrid>
                <a:gridCol w="1470091"/>
                <a:gridCol w="2539630"/>
                <a:gridCol w="12668274"/>
              </a:tblGrid>
              <a:tr h="2978875">
                <a:tc>
                  <a:txBody>
                    <a:bodyPr/>
                    <a:lstStyle/>
                    <a:p>
                      <a:pPr algn="l" defTabSz="457200"/>
                      <a:r>
                        <a:rPr sz="2600">
                          <a:solidFill>
                            <a:srgbClr val="1B1C1D"/>
                          </a:solidFill>
                          <a:latin typeface="Helvetica"/>
                          <a:ea typeface="Helvetica"/>
                          <a:cs typeface="Helvetica"/>
                          <a:sym typeface="Helvetica"/>
                        </a:rPr>
                        <a:t>代码特征提取</a:t>
                      </a:r>
                      <a:r>
                        <a:rPr lang="zh-CN" sz="2600">
                          <a:solidFill>
                            <a:srgbClr val="1B1C1D"/>
                          </a:solidFill>
                          <a:latin typeface="Helvetica"/>
                          <a:ea typeface="宋体" panose="02010600030101010101" pitchFamily="2" charset="-122"/>
                          <a:cs typeface="Helvetica"/>
                          <a:sym typeface="Helvetica"/>
                        </a:rPr>
                        <a:t>引擎</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lang="zh-CN" altLang="en-US" sz="2600">
                          <a:solidFill>
                            <a:srgbClr val="1B1C1D"/>
                          </a:solidFill>
                          <a:latin typeface="Helvetica"/>
                          <a:ea typeface="宋体" panose="02010600030101010101" pitchFamily="2" charset="-122"/>
                          <a:cs typeface="Helvetica"/>
                          <a:sym typeface="Helvetica"/>
                        </a:rPr>
                        <a:t>抽象语法树解析</a:t>
                      </a:r>
                      <a:endParaRPr lang="zh-CN" altLang="en-US" sz="2600">
                        <a:solidFill>
                          <a:srgbClr val="1B1C1D"/>
                        </a:solidFill>
                        <a:latin typeface="Helvetica"/>
                        <a:ea typeface="宋体" panose="02010600030101010101" pitchFamily="2" charset="-122"/>
                        <a:cs typeface="Helvetica"/>
                        <a:sym typeface="Helvetica"/>
                      </a:endParaRPr>
                    </a:p>
                  </a:txBody>
                  <a:tcPr marL="152400" marR="152400" marT="101600" marB="101600" anchor="ctr" anchorCtr="0" horzOverflow="overflow"/>
                </a:tc>
                <a:tc>
                  <a:txBody>
                    <a:bodyPr/>
                    <a:lstStyle/>
                    <a:p>
                      <a:pPr algn="l" defTabSz="457200"/>
                      <a:r>
                        <a:rPr lang="en-US" altLang="zh-CN" sz="2600">
                          <a:solidFill>
                            <a:srgbClr val="1B1C1D"/>
                          </a:solidFill>
                          <a:latin typeface="Helvetica"/>
                          <a:ea typeface="Helvetica"/>
                          <a:cs typeface="Helvetica"/>
                          <a:sym typeface="Helvetica"/>
                        </a:rPr>
                        <a:t>        AST</a:t>
                      </a:r>
                      <a:r>
                        <a:rPr lang="zh-CN" altLang="en-US" sz="2600">
                          <a:solidFill>
                            <a:srgbClr val="1B1C1D"/>
                          </a:solidFill>
                          <a:latin typeface="Helvetica"/>
                          <a:ea typeface="Helvetica"/>
                          <a:cs typeface="Helvetica"/>
                          <a:sym typeface="Helvetica"/>
                        </a:rPr>
                        <a:t>提供了代码的结构化表示，而程序切片在此基础上通过依赖分析提取与特定计算相关的最小语义子树，从而实现精准的代码理解与分析。</a:t>
                      </a:r>
                      <a:endParaRPr lang="zh-CN" altLang="en-US" sz="2600">
                        <a:solidFill>
                          <a:srgbClr val="1B1C1D"/>
                        </a:solidFill>
                        <a:latin typeface="Helvetica"/>
                        <a:ea typeface="Helvetica"/>
                        <a:cs typeface="Helvetica"/>
                        <a:sym typeface="Helvetica"/>
                      </a:endParaRPr>
                    </a:p>
                  </a:txBody>
                  <a:tcPr marL="152400" marR="152400" marT="101600" marB="101600" anchor="ctr" anchorCtr="0" horzOverflow="overflow"/>
                </a:tc>
              </a:tr>
              <a:tr h="2978875">
                <a:tc>
                  <a:txBody>
                    <a:bodyPr/>
                    <a:lstStyle/>
                    <a:p>
                      <a:pPr algn="l" defTabSz="457200"/>
                      <a:r>
                        <a:rPr lang="zh-CN" sz="2600">
                          <a:solidFill>
                            <a:srgbClr val="1B1C1D"/>
                          </a:solidFill>
                          <a:latin typeface="Helvetica"/>
                          <a:ea typeface="宋体" panose="02010600030101010101" pitchFamily="2" charset="-122"/>
                          <a:cs typeface="Helvetica"/>
                          <a:sym typeface="Helvetica"/>
                        </a:rPr>
                        <a:t>深度学习模型服务</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lang="en-US" altLang="zh-CN" sz="2600">
                          <a:solidFill>
                            <a:srgbClr val="1B1C1D"/>
                          </a:solidFill>
                          <a:latin typeface="Helvetica"/>
                          <a:ea typeface="Helvetica"/>
                          <a:cs typeface="Helvetica"/>
                          <a:sym typeface="Helvetica"/>
                        </a:rPr>
                        <a:t>PyTorch</a:t>
                      </a:r>
                      <a:endParaRPr lang="zh-CN" sz="2600">
                        <a:solidFill>
                          <a:srgbClr val="1B1C1D"/>
                        </a:solidFill>
                        <a:latin typeface="Helvetica"/>
                        <a:ea typeface="宋体" panose="02010600030101010101" pitchFamily="2" charset="-122"/>
                        <a:cs typeface="Helvetica"/>
                        <a:sym typeface="Helvetica"/>
                      </a:endParaRPr>
                    </a:p>
                  </a:txBody>
                  <a:tcPr marL="152400" marR="152400" marT="101600" marB="101600" anchor="ctr" anchorCtr="0" horzOverflow="overflow"/>
                </a:tc>
                <a:tc>
                  <a:txBody>
                    <a:bodyPr/>
                    <a:lstStyle/>
                    <a:p>
                      <a:pPr algn="l" defTabSz="457200"/>
                      <a:r>
                        <a:rPr lang="zh-CN" altLang="en-US" sz="2600">
                          <a:solidFill>
                            <a:srgbClr val="1B1C1D"/>
                          </a:solidFill>
                          <a:latin typeface="Helvetica"/>
                          <a:ea typeface="Helvetica"/>
                          <a:cs typeface="Helvetica"/>
                          <a:sym typeface="Helvetica"/>
                        </a:rPr>
                        <a:t>深度学习框架</a:t>
                      </a:r>
                      <a:r>
                        <a:rPr lang="en-US" altLang="zh-CN" sz="2600">
                          <a:solidFill>
                            <a:srgbClr val="1B1C1D"/>
                          </a:solidFill>
                          <a:latin typeface="Helvetica"/>
                          <a:ea typeface="Helvetica"/>
                          <a:cs typeface="Helvetica"/>
                          <a:sym typeface="Helvetica"/>
                        </a:rPr>
                        <a:t> PyTorch </a:t>
                      </a:r>
                      <a:r>
                        <a:rPr lang="zh-CN" altLang="en-US" sz="2600">
                          <a:solidFill>
                            <a:srgbClr val="1B1C1D"/>
                          </a:solidFill>
                          <a:latin typeface="Helvetica"/>
                          <a:ea typeface="Helvetica"/>
                          <a:cs typeface="Helvetica"/>
                          <a:sym typeface="Helvetica"/>
                        </a:rPr>
                        <a:t>基于</a:t>
                      </a:r>
                      <a:r>
                        <a:rPr lang="en-US" altLang="zh-CN" sz="2600">
                          <a:solidFill>
                            <a:srgbClr val="1B1C1D"/>
                          </a:solidFill>
                          <a:latin typeface="Helvetica"/>
                          <a:ea typeface="Helvetica"/>
                          <a:cs typeface="Helvetica"/>
                          <a:sym typeface="Helvetica"/>
                        </a:rPr>
                        <a:t> </a:t>
                      </a:r>
                      <a:r>
                        <a:rPr lang="zh-CN" altLang="en-US" sz="2600">
                          <a:solidFill>
                            <a:srgbClr val="1B1C1D"/>
                          </a:solidFill>
                          <a:latin typeface="Helvetica"/>
                          <a:ea typeface="Helvetica"/>
                          <a:cs typeface="Helvetica"/>
                          <a:sym typeface="Helvetica"/>
                        </a:rPr>
                        <a:t>动态计算图（</a:t>
                      </a:r>
                      <a:r>
                        <a:rPr lang="en-US" altLang="zh-CN" sz="2600">
                          <a:solidFill>
                            <a:srgbClr val="1B1C1D"/>
                          </a:solidFill>
                          <a:latin typeface="Helvetica"/>
                          <a:ea typeface="Helvetica"/>
                          <a:cs typeface="Helvetica"/>
                          <a:sym typeface="Helvetica"/>
                        </a:rPr>
                        <a:t>Define-by-Run</a:t>
                      </a:r>
                      <a:r>
                        <a:rPr lang="zh-CN" altLang="en-US" sz="2600">
                          <a:solidFill>
                            <a:srgbClr val="1B1C1D"/>
                          </a:solidFill>
                          <a:latin typeface="Helvetica"/>
                          <a:ea typeface="Helvetica"/>
                          <a:cs typeface="Helvetica"/>
                          <a:sym typeface="Helvetica"/>
                        </a:rPr>
                        <a:t>）</a:t>
                      </a:r>
                      <a:r>
                        <a:rPr lang="en-US" altLang="zh-CN" sz="2600">
                          <a:solidFill>
                            <a:srgbClr val="1B1C1D"/>
                          </a:solidFill>
                          <a:latin typeface="Helvetica"/>
                          <a:ea typeface="Helvetica"/>
                          <a:cs typeface="Helvetica"/>
                          <a:sym typeface="Helvetica"/>
                        </a:rPr>
                        <a:t> </a:t>
                      </a:r>
                      <a:r>
                        <a:rPr lang="zh-CN" altLang="en-US" sz="2600">
                          <a:solidFill>
                            <a:srgbClr val="1B1C1D"/>
                          </a:solidFill>
                          <a:latin typeface="Helvetica"/>
                          <a:ea typeface="Helvetica"/>
                          <a:cs typeface="Helvetica"/>
                          <a:sym typeface="Helvetica"/>
                        </a:rPr>
                        <a:t>原理，在模型前向传播时即时构建计算图，并通过自动求导机制（</a:t>
                      </a:r>
                      <a:r>
                        <a:rPr lang="en-US" altLang="zh-CN" sz="2600">
                          <a:solidFill>
                            <a:srgbClr val="1B1C1D"/>
                          </a:solidFill>
                          <a:latin typeface="Helvetica"/>
                          <a:ea typeface="Helvetica"/>
                          <a:cs typeface="Helvetica"/>
                          <a:sym typeface="Helvetica"/>
                        </a:rPr>
                        <a:t>autograd</a:t>
                      </a:r>
                      <a:r>
                        <a:rPr lang="zh-CN" altLang="en-US" sz="2600">
                          <a:solidFill>
                            <a:srgbClr val="1B1C1D"/>
                          </a:solidFill>
                          <a:latin typeface="Helvetica"/>
                          <a:ea typeface="Helvetica"/>
                          <a:cs typeface="Helvetica"/>
                          <a:sym typeface="Helvetica"/>
                        </a:rPr>
                        <a:t>）实现高效的反向传播与参数更新。</a:t>
                      </a:r>
                      <a:endParaRPr lang="zh-CN" altLang="en-US" sz="2600">
                        <a:solidFill>
                          <a:srgbClr val="1B1C1D"/>
                        </a:solidFill>
                        <a:latin typeface="Helvetica"/>
                        <a:ea typeface="Helvetica"/>
                        <a:cs typeface="Helvetica"/>
                        <a:sym typeface="Helvetica"/>
                      </a:endParaRPr>
                    </a:p>
                  </a:txBody>
                  <a:tcPr marL="152400" marR="152400" marT="101600" marB="101600" anchor="ctr" anchorCtr="0" horzOverflow="overflow"/>
                </a:tc>
              </a:tr>
              <a:tr h="2978875">
                <a:tc>
                  <a:txBody>
                    <a:bodyPr/>
                    <a:lstStyle/>
                    <a:p>
                      <a:pPr algn="r" defTabSz="457200"/>
                      <a:r>
                        <a:rPr lang="zh-CN" altLang="en-US" sz="2600">
                          <a:solidFill>
                            <a:srgbClr val="1B1C1D"/>
                          </a:solidFill>
                          <a:latin typeface="Helvetica"/>
                          <a:ea typeface="Helvetica"/>
                          <a:cs typeface="Helvetica"/>
                          <a:sym typeface="Helvetica"/>
                        </a:rPr>
                        <a:t>实时缺陷标注系统</a:t>
                      </a:r>
                      <a:endParaRPr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lang="en-US" altLang="zh-CN" sz="2600">
                          <a:solidFill>
                            <a:srgbClr val="1B1C1D"/>
                          </a:solidFill>
                          <a:latin typeface="Helvetica"/>
                          <a:ea typeface="Helvetica"/>
                          <a:cs typeface="Helvetica"/>
                          <a:sym typeface="Helvetica"/>
                        </a:rPr>
                        <a:t>D3.js</a:t>
                      </a:r>
                      <a:r>
                        <a:rPr lang="zh-CN" altLang="en-US" sz="2600">
                          <a:solidFill>
                            <a:srgbClr val="1B1C1D"/>
                          </a:solidFill>
                          <a:latin typeface="Helvetica"/>
                          <a:ea typeface="Helvetica"/>
                          <a:cs typeface="Helvetica"/>
                          <a:sym typeface="Helvetica"/>
                        </a:rPr>
                        <a:t>可视化分析结果</a:t>
                      </a:r>
                      <a:endParaRPr lang="zh-CN" altLang="en-US" sz="2600">
                        <a:solidFill>
                          <a:srgbClr val="1B1C1D"/>
                        </a:solidFill>
                        <a:latin typeface="Helvetica"/>
                        <a:ea typeface="Helvetica"/>
                        <a:cs typeface="Helvetica"/>
                        <a:sym typeface="Helvetica"/>
                      </a:endParaRPr>
                    </a:p>
                  </a:txBody>
                  <a:tcPr marL="152400" marR="152400" marT="101600" marB="101600" anchor="ctr" anchorCtr="0" horzOverflow="overflow"/>
                </a:tc>
                <a:tc>
                  <a:txBody>
                    <a:bodyPr/>
                    <a:lstStyle/>
                    <a:p>
                      <a:pPr algn="l" defTabSz="457200"/>
                      <a:r>
                        <a:rPr lang="zh-CN" altLang="en-US" sz="2600">
                          <a:solidFill>
                            <a:srgbClr val="1B1C1D"/>
                          </a:solidFill>
                          <a:latin typeface="Helvetica"/>
                          <a:ea typeface="Helvetica"/>
                          <a:cs typeface="Helvetica"/>
                          <a:sym typeface="Helvetica"/>
                        </a:rPr>
                        <a:t>高度定制、数据驱动、交互性强</a:t>
                      </a:r>
                      <a:endParaRPr lang="zh-CN" altLang="en-US" sz="2600">
                        <a:solidFill>
                          <a:srgbClr val="1B1C1D"/>
                        </a:solidFill>
                        <a:latin typeface="Helvetica"/>
                        <a:ea typeface="Helvetica"/>
                        <a:cs typeface="Helvetica"/>
                        <a:sym typeface="Helvetica"/>
                      </a:endParaRPr>
                    </a:p>
                  </a:txBody>
                  <a:tcPr marL="152400" marR="152400" marT="101600" marB="101600" anchor="ctr" anchorCtr="0" horzOverflow="overflow"/>
                </a:tc>
              </a:tr>
            </a:tbl>
          </a:graphicData>
        </a:graphic>
      </p:graphicFrame>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71" name="TextBox 2"/>
          <p:cNvSpPr txBox="1"/>
          <p:nvPr/>
        </p:nvSpPr>
        <p:spPr>
          <a:xfrm>
            <a:off x="23320650" y="12549699"/>
            <a:ext cx="196343" cy="455247"/>
          </a:xfrm>
          <a:prstGeom prst="rect">
            <a:avLst/>
          </a:prstGeom>
          <a:ln w="12700">
            <a:miter lim="400000"/>
          </a:ln>
        </p:spPr>
        <p:txBody>
          <a:bodyPr wrap="none" lIns="0" tIns="0" rIns="0" bIns="0">
            <a:spAutoFit/>
          </a:bodyPr>
          <a:lstStyle>
            <a:lvl1pPr algn="r" defTabSz="1219200">
              <a:lnSpc>
                <a:spcPts val="3700"/>
              </a:lnSpc>
              <a:spcBef>
                <a:spcPts val="0"/>
              </a:spcBef>
              <a:defRPr sz="2600">
                <a:solidFill>
                  <a:srgbClr val="333333"/>
                </a:solidFill>
                <a:latin typeface="Raleway"/>
                <a:ea typeface="Raleway"/>
                <a:cs typeface="Raleway"/>
                <a:sym typeface="Raleway"/>
              </a:defRPr>
            </a:lvl1pPr>
          </a:lstStyle>
          <a:p>
            <a:r>
              <a:t>3</a:t>
            </a:r>
          </a:p>
        </p:txBody>
      </p:sp>
      <p:sp>
        <p:nvSpPr>
          <p:cNvPr id="272" name="AutoShape 3"/>
          <p:cNvSpPr/>
          <p:nvPr/>
        </p:nvSpPr>
        <p:spPr>
          <a:xfrm>
            <a:off x="1908938" y="12814300"/>
            <a:ext cx="20832615" cy="0"/>
          </a:xfrm>
          <a:prstGeom prst="line">
            <a:avLst/>
          </a:prstGeom>
          <a:ln w="25400">
            <a:solidFill>
              <a:srgbClr val="375A7F"/>
            </a:solidFill>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
        <p:nvSpPr>
          <p:cNvPr id="273" name="Freeform 4"/>
          <p:cNvSpPr/>
          <p:nvPr/>
        </p:nvSpPr>
        <p:spPr>
          <a:xfrm>
            <a:off x="895349" y="12517179"/>
            <a:ext cx="594245" cy="594244"/>
          </a:xfrm>
          <a:prstGeom prst="rect">
            <a:avLst/>
          </a:prstGeom>
          <a:blipFill>
            <a:blip r:embed="rId1"/>
            <a:stretch>
              <a:fillRect/>
            </a:stretch>
          </a:blipFill>
          <a:ln w="12700">
            <a:miter lim="400000"/>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
        <p:nvSpPr>
          <p:cNvPr id="274" name="05 项目进度安排"/>
          <p:cNvSpPr txBox="1"/>
          <p:nvPr/>
        </p:nvSpPr>
        <p:spPr>
          <a:xfrm>
            <a:off x="3134714" y="3895923"/>
            <a:ext cx="10082530" cy="1228090"/>
          </a:xfrm>
          <a:prstGeom prst="rect">
            <a:avLst/>
          </a:prstGeom>
          <a:ln w="12700">
            <a:miter lim="400000"/>
          </a:ln>
        </p:spPr>
        <p:txBody>
          <a:bodyPr wrap="none" lIns="60959" tIns="60959" rIns="60959" bIns="60959">
            <a:spAutoFit/>
          </a:bodyPr>
          <a:lstStyle>
            <a:lvl1pPr defTabSz="609600">
              <a:lnSpc>
                <a:spcPct val="100000"/>
              </a:lnSpc>
              <a:spcBef>
                <a:spcPts val="1600"/>
              </a:spcBef>
              <a:defRPr sz="7200" b="1">
                <a:solidFill>
                  <a:srgbClr val="242424"/>
                </a:solidFill>
                <a:latin typeface="Times Roman"/>
                <a:ea typeface="Times Roman"/>
                <a:cs typeface="Times Roman"/>
                <a:sym typeface="Times Roman"/>
              </a:defRPr>
            </a:lvl1pPr>
          </a:lstStyle>
          <a:p>
            <a:pPr algn="l"/>
            <a:r>
              <a:t>05 </a:t>
            </a:r>
            <a:r>
              <a:rPr lang="zh-CN">
                <a:solidFill>
                  <a:schemeClr val="tx1"/>
                </a:solidFill>
                <a:ea typeface="宋体" panose="02010600030101010101" pitchFamily="2" charset="-122"/>
                <a:sym typeface="+mn-ea"/>
              </a:rPr>
              <a:t>时间</a:t>
            </a:r>
            <a:r>
              <a:rPr>
                <a:solidFill>
                  <a:schemeClr val="tx1"/>
                </a:solidFill>
                <a:sym typeface="+mn-ea"/>
              </a:rPr>
              <a:t>安排</a:t>
            </a:r>
            <a:r>
              <a:rPr lang="zh-CN">
                <a:solidFill>
                  <a:schemeClr val="tx1"/>
                </a:solidFill>
                <a:ea typeface="宋体" panose="02010600030101010101" pitchFamily="2" charset="-122"/>
                <a:sym typeface="+mn-ea"/>
              </a:rPr>
              <a:t>与组员分工</a:t>
            </a:r>
            <a:endParaRPr lang="zh-CN">
              <a:solidFill>
                <a:schemeClr val="tx1"/>
              </a:solidFill>
              <a:ea typeface="宋体" panose="02010600030101010101" pitchFamily="2" charset="-122"/>
              <a:sym typeface="+mn-ea"/>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hase 1 (25%): 数据准备与基线模型构建（特征提取、基础模型训练）…"/>
          <p:cNvSpPr txBox="1"/>
          <p:nvPr/>
        </p:nvSpPr>
        <p:spPr>
          <a:xfrm>
            <a:off x="2073226" y="4194474"/>
            <a:ext cx="19092368" cy="4682338"/>
          </a:xfrm>
          <a:prstGeom prst="rect">
            <a:avLst/>
          </a:prstGeom>
          <a:ln w="12700">
            <a:miter lim="400000"/>
          </a:ln>
        </p:spPr>
        <p:txBody>
          <a:bodyPr wrap="none" lIns="50800" tIns="50800" rIns="50800" bIns="50800" anchor="ctr">
            <a:spAutoFit/>
          </a:bodyPr>
          <a:lstStyle/>
          <a:p>
            <a:pPr>
              <a:lnSpc>
                <a:spcPct val="150000"/>
              </a:lnSpc>
            </a:pPr>
            <a:r>
              <a:t>Phase 1 (25%): 数据准备与基线模型构建（特征提取、基础模型训练）</a:t>
            </a:r>
          </a:p>
          <a:p>
            <a:pPr>
              <a:lnSpc>
                <a:spcPct val="150000"/>
              </a:lnSpc>
            </a:pPr>
            <a:r>
              <a:t>Phase 2 (35%): 前后端系统开发与集成（UI、API、Monaco/D3 模块）</a:t>
            </a:r>
          </a:p>
          <a:p>
            <a:pPr>
              <a:lnSpc>
                <a:spcPct val="150000"/>
              </a:lnSpc>
            </a:pPr>
            <a:r>
              <a:t>Phase 3 (40%): 模型调优、智能修复功能实现与系统集成测试</a:t>
            </a:r>
          </a:p>
        </p:txBody>
      </p:sp>
      <p:sp>
        <p:nvSpPr>
          <p:cNvPr id="277" name="WBS阶段划分"/>
          <p:cNvSpPr txBox="1"/>
          <p:nvPr/>
        </p:nvSpPr>
        <p:spPr>
          <a:xfrm>
            <a:off x="1213122" y="907357"/>
            <a:ext cx="3928250" cy="1417321"/>
          </a:xfrm>
          <a:prstGeom prst="rect">
            <a:avLst/>
          </a:prstGeom>
          <a:ln w="12700">
            <a:miter lim="400000"/>
          </a:ln>
        </p:spPr>
        <p:txBody>
          <a:bodyPr wrap="none" lIns="60959" tIns="60959" rIns="60959" bIns="60959">
            <a:spAutoFit/>
          </a:bodyPr>
          <a:lstStyle>
            <a:lvl1pPr defTabSz="609600">
              <a:lnSpc>
                <a:spcPct val="100000"/>
              </a:lnSpc>
              <a:spcBef>
                <a:spcPts val="1600"/>
              </a:spcBef>
              <a:defRPr b="1">
                <a:solidFill>
                  <a:srgbClr val="242424"/>
                </a:solidFill>
                <a:latin typeface="Times Roman"/>
                <a:ea typeface="Times Roman"/>
                <a:cs typeface="Times Roman"/>
                <a:sym typeface="Times Roman"/>
              </a:defRPr>
            </a:lvl1pPr>
          </a:lstStyle>
          <a:p>
            <a:r>
              <a:t>WBS阶段划分</a:t>
            </a:r>
            <a:endParaRPr sz="1600" b="0">
              <a:solidFill>
                <a:srgbClr val="000000"/>
              </a:solidFill>
            </a:endParaRPr>
          </a:p>
        </p:txBody>
      </p:sp>
      <p:sp>
        <p:nvSpPr>
          <p:cNvPr id="278" name="线条"/>
          <p:cNvSpPr/>
          <p:nvPr/>
        </p:nvSpPr>
        <p:spPr>
          <a:xfrm>
            <a:off x="865871" y="2619629"/>
            <a:ext cx="12117570" cy="1"/>
          </a:xfrm>
          <a:prstGeom prst="line">
            <a:avLst/>
          </a:prstGeom>
          <a:ln w="25400">
            <a:solidFill>
              <a:srgbClr val="000000"/>
            </a:solidFill>
            <a:miter lim="400000"/>
          </a:ln>
        </p:spPr>
        <p:txBody>
          <a:bodyPr lIns="60959" tIns="60959" rIns="60959" bIns="60959"/>
          <a:lstStyle/>
          <a:p>
            <a:pPr defTabSz="1219200">
              <a:lnSpc>
                <a:spcPct val="100000"/>
              </a:lnSpc>
              <a:spcBef>
                <a:spcPts val="0"/>
              </a:spcBef>
              <a:defRPr sz="2400">
                <a:latin typeface="Calibri" panose="020F0502020204030204"/>
                <a:ea typeface="Calibri" panose="020F0502020204030204"/>
                <a:cs typeface="Calibri" panose="020F0502020204030204"/>
                <a:sym typeface="Calibri" panose="020F0502020204030204"/>
              </a:defRPr>
            </a:p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hase 1 (25%): 数据准备与基线模型构建（特征提取、基础模型训练）…"/>
          <p:cNvSpPr txBox="1"/>
          <p:nvPr/>
        </p:nvSpPr>
        <p:spPr>
          <a:xfrm>
            <a:off x="1212801" y="1963008"/>
            <a:ext cx="5588000" cy="6264910"/>
          </a:xfrm>
          <a:prstGeom prst="rect">
            <a:avLst/>
          </a:prstGeom>
          <a:ln w="12700">
            <a:miter lim="400000"/>
          </a:ln>
        </p:spPr>
        <p:txBody>
          <a:bodyPr wrap="none" lIns="50800" tIns="50800" rIns="50800" bIns="50800" anchor="ctr">
            <a:spAutoFit/>
          </a:bodyPr>
          <a:lstStyle/>
          <a:p>
            <a:pPr>
              <a:lnSpc>
                <a:spcPct val="150000"/>
              </a:lnSpc>
            </a:pPr>
            <a:r>
              <a:rPr lang="zh-CN"/>
              <a:t>陈俊威：</a:t>
            </a:r>
            <a:r>
              <a:rPr lang="en-US" altLang="zh-CN"/>
              <a:t>AI</a:t>
            </a:r>
            <a:r>
              <a:rPr lang="zh-CN" altLang="en-US"/>
              <a:t>算法训练</a:t>
            </a:r>
            <a:endParaRPr lang="zh-CN"/>
          </a:p>
          <a:p>
            <a:pPr>
              <a:lnSpc>
                <a:spcPct val="150000"/>
              </a:lnSpc>
            </a:pPr>
            <a:r>
              <a:rPr lang="zh-CN"/>
              <a:t>李森：后端</a:t>
            </a:r>
            <a:endParaRPr lang="zh-CN"/>
          </a:p>
          <a:p>
            <a:pPr>
              <a:lnSpc>
                <a:spcPct val="150000"/>
              </a:lnSpc>
            </a:pPr>
            <a:r>
              <a:rPr lang="zh-CN"/>
              <a:t>代熙铭：前端</a:t>
            </a:r>
            <a:endParaRPr lang="zh-CN"/>
          </a:p>
          <a:p>
            <a:pPr>
              <a:lnSpc>
                <a:spcPct val="150000"/>
              </a:lnSpc>
            </a:pPr>
            <a:r>
              <a:rPr lang="zh-CN"/>
              <a:t>李睿：报告和管理</a:t>
            </a:r>
            <a:endParaRPr lang="zh-CN"/>
          </a:p>
        </p:txBody>
      </p:sp>
      <p:sp>
        <p:nvSpPr>
          <p:cNvPr id="277" name="WBS阶段划分"/>
          <p:cNvSpPr txBox="1"/>
          <p:nvPr/>
        </p:nvSpPr>
        <p:spPr>
          <a:xfrm>
            <a:off x="1213122" y="907357"/>
            <a:ext cx="2569210" cy="859155"/>
          </a:xfrm>
          <a:prstGeom prst="rect">
            <a:avLst/>
          </a:prstGeom>
          <a:ln w="12700">
            <a:miter lim="400000"/>
          </a:ln>
        </p:spPr>
        <p:txBody>
          <a:bodyPr wrap="none" lIns="60959" tIns="60959" rIns="60959" bIns="60959">
            <a:spAutoFit/>
          </a:bodyPr>
          <a:lstStyle>
            <a:lvl1pPr defTabSz="609600">
              <a:lnSpc>
                <a:spcPct val="100000"/>
              </a:lnSpc>
              <a:spcBef>
                <a:spcPts val="1600"/>
              </a:spcBef>
              <a:defRPr b="1">
                <a:solidFill>
                  <a:srgbClr val="242424"/>
                </a:solidFill>
                <a:latin typeface="Times Roman"/>
                <a:ea typeface="Times Roman"/>
                <a:cs typeface="Times Roman"/>
                <a:sym typeface="Times Roman"/>
              </a:defRPr>
            </a:lvl1pPr>
          </a:lstStyle>
          <a:p>
            <a:r>
              <a:rPr lang="zh-CN">
                <a:ea typeface="宋体" panose="02010600030101010101" pitchFamily="2" charset="-122"/>
              </a:rPr>
              <a:t>组员分工</a:t>
            </a:r>
            <a:endParaRPr lang="zh-CN" sz="1600" b="0">
              <a:solidFill>
                <a:srgbClr val="000000"/>
              </a:solidFill>
              <a:ea typeface="宋体" panose="02010600030101010101" pitchFamily="2" charset="-122"/>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感谢倾听！"/>
          <p:cNvSpPr txBox="1"/>
          <p:nvPr>
            <p:ph type="body" sz="half" idx="1"/>
          </p:nvPr>
        </p:nvSpPr>
        <p:spPr>
          <a:prstGeom prst="rect">
            <a:avLst/>
          </a:prstGeom>
        </p:spPr>
        <p:txBody>
          <a:bodyPr/>
          <a:lstStyle/>
          <a:p>
            <a:r>
              <a:t>感谢倾听！</a:t>
            </a:r>
          </a:p>
        </p:txBody>
      </p:sp>
    </p:spTree>
  </p:cSld>
  <p:clrMapOvr>
    <a:masterClrMapping/>
  </p:clrMapOvr>
  <p:transition spd="med"/>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upright="0">
        <a:spAutoFit/>
      </a:bodyPr>
      <a:lstStyle>
        <a:def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upright="0">
        <a:spAutoFit/>
      </a:bodyPr>
      <a:lstStyle>
        <a:def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1923</Words>
  <Application>WPS 演示</Application>
  <PresentationFormat/>
  <Paragraphs>268</Paragraphs>
  <Slides>23</Slides>
  <Notes>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23</vt:i4>
      </vt:variant>
    </vt:vector>
  </HeadingPairs>
  <TitlesOfParts>
    <vt:vector size="44" baseType="lpstr">
      <vt:lpstr>Arial</vt:lpstr>
      <vt:lpstr>宋体</vt:lpstr>
      <vt:lpstr>Wingdings</vt:lpstr>
      <vt:lpstr>Helvetica Neue</vt:lpstr>
      <vt:lpstr>Helvetica Neue Medium</vt:lpstr>
      <vt:lpstr>Raleway</vt:lpstr>
      <vt:lpstr>Segoe Print</vt:lpstr>
      <vt:lpstr>Calibri</vt:lpstr>
      <vt:lpstr>배달의민족 연성 OTF</vt:lpstr>
      <vt:lpstr>Times Roman</vt:lpstr>
      <vt:lpstr>Raleway Bold</vt:lpstr>
      <vt:lpstr>微软雅黑</vt:lpstr>
      <vt:lpstr>Arial Unicode MS</vt:lpstr>
      <vt:lpstr>Helvetica</vt:lpstr>
      <vt:lpstr>Helvetica Neue</vt:lpstr>
      <vt:lpstr>Miss Sweetie</vt:lpstr>
      <vt:lpstr>Retro Cute Medium</vt:lpstr>
      <vt:lpstr>Tempus Sans ITC</vt:lpstr>
      <vt:lpstr>Melanie BT Std Roman</vt:lpstr>
      <vt:lpstr>方正清仿宋 简 Bold</vt:lpstr>
      <vt:lpstr>21_BasicWhite</vt:lpstr>
      <vt:lpstr>基于AI的智能代码审查系统设计开题报告</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基于AI的智能代码审查系统设计开题报告</dc:title>
  <dc:creator/>
  <cp:lastModifiedBy>闪烁</cp:lastModifiedBy>
  <cp:revision>14</cp:revision>
  <dcterms:created xsi:type="dcterms:W3CDTF">2025-10-29T01:37:26Z</dcterms:created>
  <dcterms:modified xsi:type="dcterms:W3CDTF">2025-10-29T03:47:32Z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6DE1B577031247829A7F6E38E37F27C3_12</vt:lpwstr>
  </property>
  <property fmtid="{D5CDD505-2E9C-101B-9397-08002B2CF9AE}" pid="3" name="KSOProductBuildVer">
    <vt:lpwstr>2052-12.1.0.23125</vt:lpwstr>
  </property>
</Properties>
</file>